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54" autoAdjust="0"/>
    <p:restoredTop sz="94660"/>
  </p:normalViewPr>
  <p:slideViewPr>
    <p:cSldViewPr snapToGrid="0" snapToObjects="1">
      <p:cViewPr varScale="1">
        <p:scale>
          <a:sx n="62" d="100"/>
          <a:sy n="62" d="100"/>
        </p:scale>
        <p:origin x="146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E01B5F-8980-4224-A9D7-C44BE4E5A4A6}" type="datetimeFigureOut">
              <a:rPr lang="en-IN" smtClean="0"/>
              <a:t>28-03-2026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904EA-B153-4BE3-90AF-45F2F28F2EA4}" type="slidenum">
              <a:rPr lang="en-IN" smtClean="0"/>
              <a:t>‹#›</a:t>
            </a:fld>
            <a:endParaRPr lang="en-IN"/>
          </a:p>
        </p:txBody>
      </p:sp>
    </p:spTree>
    <p:extLst>
      <p:ext uri="{BB962C8B-B14F-4D97-AF65-F5344CB8AC3E}">
        <p14:creationId xmlns:p14="http://schemas.microsoft.com/office/powerpoint/2010/main" val="1814806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7904EA-B153-4BE3-90AF-45F2F28F2EA4}" type="slidenum">
              <a:rPr lang="en-IN" smtClean="0"/>
              <a:t>3</a:t>
            </a:fld>
            <a:endParaRPr lang="en-IN"/>
          </a:p>
        </p:txBody>
      </p:sp>
    </p:spTree>
    <p:extLst>
      <p:ext uri="{BB962C8B-B14F-4D97-AF65-F5344CB8AC3E}">
        <p14:creationId xmlns:p14="http://schemas.microsoft.com/office/powerpoint/2010/main" val="1337424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0"/>
            <a:ext cx="8942832" cy="274320"/>
          </a:xfrm>
          <a:prstGeom prst="rect">
            <a:avLst/>
          </a:prstGeom>
          <a:solidFill>
            <a:srgbClr val="1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0" y="384048"/>
            <a:ext cx="1554480" cy="274320"/>
          </a:xfrm>
          <a:prstGeom prst="rect">
            <a:avLst/>
          </a:prstGeom>
          <a:noFill/>
        </p:spPr>
        <p:txBody>
          <a:bodyPr wrap="none">
            <a:spAutoFit/>
          </a:bodyPr>
          <a:lstStyle/>
          <a:p>
            <a:pPr algn="r">
              <a:defRPr sz="1100" b="1">
                <a:solidFill>
                  <a:srgbClr val="17263D"/>
                </a:solidFill>
              </a:defRPr>
            </a:pPr>
            <a:r>
              <a:t>AI FOR ALL</a:t>
            </a:r>
          </a:p>
        </p:txBody>
      </p:sp>
      <p:sp>
        <p:nvSpPr>
          <p:cNvPr id="5" name="Rounded Rectangle 4"/>
          <p:cNvSpPr/>
          <p:nvPr/>
        </p:nvSpPr>
        <p:spPr>
          <a:xfrm>
            <a:off x="640080" y="1097280"/>
            <a:ext cx="7772400" cy="4206240"/>
          </a:xfrm>
          <a:prstGeom prst="roundRect">
            <a:avLst/>
          </a:prstGeom>
          <a:solidFill>
            <a:srgbClr val="FFFFFF"/>
          </a:solidFill>
          <a:ln w="1524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417320"/>
            <a:ext cx="6949440" cy="1463040"/>
          </a:xfrm>
          <a:prstGeom prst="rect">
            <a:avLst/>
          </a:prstGeom>
          <a:noFill/>
        </p:spPr>
        <p:txBody>
          <a:bodyPr wrap="none">
            <a:spAutoFit/>
          </a:bodyPr>
          <a:lstStyle/>
          <a:p>
            <a:pPr>
              <a:defRPr sz="2600" b="1">
                <a:solidFill>
                  <a:srgbClr val="17263D"/>
                </a:solidFill>
              </a:defRPr>
            </a:pPr>
            <a:r>
              <a:t>The Evolution of AI</a:t>
            </a:r>
            <a:br/>
            <a:r>
              <a:t>Cognitive Architectures</a:t>
            </a:r>
          </a:p>
        </p:txBody>
      </p:sp>
      <p:sp>
        <p:nvSpPr>
          <p:cNvPr id="8" name="TextBox 7"/>
          <p:cNvSpPr txBox="1"/>
          <p:nvPr/>
        </p:nvSpPr>
        <p:spPr>
          <a:xfrm>
            <a:off x="978408" y="3063240"/>
            <a:ext cx="5781263" cy="338554"/>
          </a:xfrm>
          <a:prstGeom prst="rect">
            <a:avLst/>
          </a:prstGeom>
          <a:noFill/>
        </p:spPr>
        <p:txBody>
          <a:bodyPr wrap="none">
            <a:spAutoFit/>
          </a:bodyPr>
          <a:lstStyle/>
          <a:p>
            <a:pPr>
              <a:defRPr sz="1600">
                <a:solidFill>
                  <a:srgbClr val="445162"/>
                </a:solidFill>
              </a:defRPr>
            </a:pPr>
            <a:r>
              <a:rPr dirty="0"/>
              <a:t>A Comparative Analysis of SLMs vs. Frontier Systems (2024-2030)</a:t>
            </a:r>
          </a:p>
        </p:txBody>
      </p:sp>
      <p:sp>
        <p:nvSpPr>
          <p:cNvPr id="11" name="TextBox 10"/>
          <p:cNvSpPr txBox="1"/>
          <p:nvPr/>
        </p:nvSpPr>
        <p:spPr>
          <a:xfrm>
            <a:off x="7000819" y="6446520"/>
            <a:ext cx="1548821" cy="230832"/>
          </a:xfrm>
          <a:prstGeom prst="rect">
            <a:avLst/>
          </a:prstGeom>
          <a:noFill/>
        </p:spPr>
        <p:txBody>
          <a:bodyPr wrap="none">
            <a:spAutoFit/>
          </a:bodyPr>
          <a:lstStyle/>
          <a:p>
            <a:pPr algn="r">
              <a:defRPr sz="900">
                <a:solidFill>
                  <a:srgbClr val="728192"/>
                </a:solidFill>
              </a:defRPr>
            </a:pPr>
            <a:r>
              <a:rPr dirty="0"/>
              <a:t>AI FOR ALL | Research Desk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0"/>
            <a:ext cx="8942832" cy="274320"/>
          </a:xfrm>
          <a:prstGeom prst="rect">
            <a:avLst/>
          </a:prstGeom>
          <a:solidFill>
            <a:srgbClr val="1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0" y="384048"/>
            <a:ext cx="1554480" cy="274320"/>
          </a:xfrm>
          <a:prstGeom prst="rect">
            <a:avLst/>
          </a:prstGeom>
          <a:noFill/>
        </p:spPr>
        <p:txBody>
          <a:bodyPr wrap="none">
            <a:spAutoFit/>
          </a:bodyPr>
          <a:lstStyle/>
          <a:p>
            <a:pPr algn="r">
              <a:defRPr sz="1100" b="1">
                <a:solidFill>
                  <a:srgbClr val="17263D"/>
                </a:solidFill>
              </a:defRPr>
            </a:pPr>
            <a:r>
              <a:t>AI FOR ALL</a:t>
            </a:r>
          </a:p>
        </p:txBody>
      </p:sp>
      <p:sp>
        <p:nvSpPr>
          <p:cNvPr id="5" name="TextBox 4"/>
          <p:cNvSpPr txBox="1"/>
          <p:nvPr/>
        </p:nvSpPr>
        <p:spPr>
          <a:xfrm>
            <a:off x="502920" y="457200"/>
            <a:ext cx="3246210" cy="461665"/>
          </a:xfrm>
          <a:prstGeom prst="rect">
            <a:avLst/>
          </a:prstGeom>
          <a:noFill/>
        </p:spPr>
        <p:txBody>
          <a:bodyPr wrap="none">
            <a:spAutoFit/>
          </a:bodyPr>
          <a:lstStyle/>
          <a:p>
            <a:pPr>
              <a:defRPr sz="2400" b="1">
                <a:solidFill>
                  <a:srgbClr val="17263D"/>
                </a:solidFill>
              </a:defRPr>
            </a:pPr>
            <a:r>
              <a:rPr dirty="0"/>
              <a:t>The Core Paradigm Shift</a:t>
            </a:r>
          </a:p>
        </p:txBody>
      </p:sp>
      <p:sp>
        <p:nvSpPr>
          <p:cNvPr id="6" name="TextBox 5"/>
          <p:cNvSpPr txBox="1"/>
          <p:nvPr/>
        </p:nvSpPr>
        <p:spPr>
          <a:xfrm>
            <a:off x="530352" y="1024128"/>
            <a:ext cx="3793026" cy="261610"/>
          </a:xfrm>
          <a:prstGeom prst="rect">
            <a:avLst/>
          </a:prstGeom>
          <a:noFill/>
        </p:spPr>
        <p:txBody>
          <a:bodyPr wrap="none">
            <a:spAutoFit/>
          </a:bodyPr>
          <a:lstStyle/>
          <a:p>
            <a:pPr>
              <a:defRPr sz="1100">
                <a:solidFill>
                  <a:srgbClr val="445162"/>
                </a:solidFill>
              </a:defRPr>
            </a:pPr>
            <a:r>
              <a:rPr dirty="0"/>
              <a:t>From Cloud-Bound Behemoths to Edge-</a:t>
            </a:r>
            <a:r>
              <a:rPr lang="en-US" dirty="0"/>
              <a:t>First, Tiered Intelligence</a:t>
            </a:r>
            <a:endParaRPr dirty="0"/>
          </a:p>
        </p:txBody>
      </p:sp>
      <p:sp>
        <p:nvSpPr>
          <p:cNvPr id="7" name="Rounded Rectangle 6"/>
          <p:cNvSpPr/>
          <p:nvPr/>
        </p:nvSpPr>
        <p:spPr>
          <a:xfrm>
            <a:off x="566928" y="1481328"/>
            <a:ext cx="8065008" cy="840632"/>
          </a:xfrm>
          <a:prstGeom prst="roundRect">
            <a:avLst/>
          </a:prstGeom>
          <a:solidFill>
            <a:srgbClr val="DDE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618488"/>
            <a:ext cx="8320218" cy="646331"/>
          </a:xfrm>
          <a:prstGeom prst="rect">
            <a:avLst/>
          </a:prstGeom>
          <a:noFill/>
        </p:spPr>
        <p:txBody>
          <a:bodyPr wrap="square">
            <a:spAutoFit/>
          </a:bodyPr>
          <a:lstStyle/>
          <a:p>
            <a:pPr>
              <a:defRPr sz="1200">
                <a:solidFill>
                  <a:srgbClr val="17263D"/>
                </a:solidFill>
              </a:defRPr>
            </a:pPr>
            <a:r>
              <a:rPr lang="en-US" sz="1200" dirty="0"/>
              <a:t>The assumption that larger models are universally better has been overturned by physical, economic, and infrastructure constraints. Rising data-center power demands and uneven broadband access are accelerating the need for more efficient,</a:t>
            </a:r>
          </a:p>
          <a:p>
            <a:pPr>
              <a:defRPr sz="1200">
                <a:solidFill>
                  <a:srgbClr val="17263D"/>
                </a:solidFill>
              </a:defRPr>
            </a:pPr>
            <a:r>
              <a:rPr lang="en-US" sz="1200" dirty="0"/>
              <a:t> locally deployable intelligence.</a:t>
            </a:r>
            <a:r>
              <a:rPr dirty="0"/>
              <a:t>.</a:t>
            </a:r>
          </a:p>
        </p:txBody>
      </p:sp>
      <p:sp>
        <p:nvSpPr>
          <p:cNvPr id="9" name="TextBox 8"/>
          <p:cNvSpPr txBox="1"/>
          <p:nvPr/>
        </p:nvSpPr>
        <p:spPr>
          <a:xfrm>
            <a:off x="685800" y="2423160"/>
            <a:ext cx="7589520" cy="1405513"/>
          </a:xfrm>
          <a:prstGeom prst="rect">
            <a:avLst/>
          </a:prstGeom>
          <a:noFill/>
        </p:spPr>
        <p:txBody>
          <a:bodyPr wrap="square" lIns="0" tIns="0" rIns="0" bIns="0" anchor="t">
            <a:spAutoFit/>
          </a:bodyPr>
          <a:lstStyle/>
          <a:p>
            <a:pPr algn="l">
              <a:spcAft>
                <a:spcPts val="800"/>
              </a:spcAft>
            </a:pPr>
            <a:r>
              <a:rPr sz="1300" b="1" i="0" dirty="0">
                <a:solidFill>
                  <a:srgbClr val="17263D"/>
                </a:solidFill>
              </a:rPr>
              <a:t>Frontier Models (Closed-Source): </a:t>
            </a:r>
            <a:r>
              <a:rPr sz="1300" i="0" dirty="0">
                <a:solidFill>
                  <a:srgbClr val="445162"/>
                </a:solidFill>
              </a:rPr>
              <a:t>Massive, cloud-dependent architectures that dominate absolute benchmark ceilings but face latency, privacy, and cost hurdles in day-to-day deployment</a:t>
            </a:r>
            <a:r>
              <a:rPr sz="1300" b="0" i="0" dirty="0">
                <a:solidFill>
                  <a:srgbClr val="445162"/>
                </a:solidFill>
              </a:rPr>
              <a:t>.</a:t>
            </a:r>
          </a:p>
          <a:p>
            <a:pPr>
              <a:spcAft>
                <a:spcPts val="800"/>
              </a:spcAft>
            </a:pPr>
            <a:r>
              <a:rPr sz="1300" b="1" i="0" dirty="0">
                <a:solidFill>
                  <a:srgbClr val="17263D"/>
                </a:solidFill>
              </a:rPr>
              <a:t>Small Language Models (SLMs): </a:t>
            </a:r>
            <a:r>
              <a:rPr lang="en-US" sz="1300" dirty="0"/>
              <a:t>Compact, efficient models designed for practical deployment across modern AI systems, enabling responsive and cost-effective intelligence in real-world settings.</a:t>
            </a:r>
          </a:p>
          <a:p>
            <a:pPr>
              <a:spcAft>
                <a:spcPts val="800"/>
              </a:spcAft>
            </a:pPr>
            <a:r>
              <a:rPr sz="1300" b="1" i="0" dirty="0">
                <a:solidFill>
                  <a:srgbClr val="17263D"/>
                </a:solidFill>
              </a:rPr>
              <a:t>The Economics: </a:t>
            </a:r>
            <a:r>
              <a:rPr sz="1300" b="0" i="0" dirty="0">
                <a:solidFill>
                  <a:srgbClr val="445162"/>
                </a:solidFill>
              </a:rPr>
              <a:t>Serving highly optimized SLMs can be dramatically cheaper than routing the same routine traffic to large frontier systems, especially at production scale.</a:t>
            </a:r>
          </a:p>
        </p:txBody>
      </p:sp>
      <p:sp>
        <p:nvSpPr>
          <p:cNvPr id="10" name="TextBox 9"/>
          <p:cNvSpPr txBox="1"/>
          <p:nvPr/>
        </p:nvSpPr>
        <p:spPr>
          <a:xfrm>
            <a:off x="7000819" y="6446520"/>
            <a:ext cx="1548821" cy="230832"/>
          </a:xfrm>
          <a:prstGeom prst="rect">
            <a:avLst/>
          </a:prstGeom>
          <a:noFill/>
        </p:spPr>
        <p:txBody>
          <a:bodyPr wrap="none">
            <a:spAutoFit/>
          </a:bodyPr>
          <a:lstStyle/>
          <a:p>
            <a:pPr algn="r">
              <a:defRPr sz="900">
                <a:solidFill>
                  <a:srgbClr val="728192"/>
                </a:solidFill>
              </a:defRPr>
            </a:pPr>
            <a:r>
              <a:rPr dirty="0"/>
              <a:t>AI FOR ALL | Research Desk </a:t>
            </a:r>
          </a:p>
        </p:txBody>
      </p:sp>
      <p:sp>
        <p:nvSpPr>
          <p:cNvPr id="11" name="Rounded Rectangle 10"/>
          <p:cNvSpPr/>
          <p:nvPr/>
        </p:nvSpPr>
        <p:spPr>
          <a:xfrm>
            <a:off x="749808" y="5650991"/>
            <a:ext cx="7315200" cy="542285"/>
          </a:xfrm>
          <a:prstGeom prst="roundRect">
            <a:avLst/>
          </a:prstGeom>
          <a:solidFill>
            <a:srgbClr val="DDE9FC"/>
          </a:solidFill>
          <a:ln w="12700">
            <a:solidFill>
              <a:srgbClr val="2A60C6"/>
            </a:solidFill>
          </a:ln>
        </p:spPr>
        <p:style>
          <a:lnRef idx="1">
            <a:schemeClr val="accent1"/>
          </a:lnRef>
          <a:fillRef idx="3">
            <a:schemeClr val="accent1"/>
          </a:fillRef>
          <a:effectRef idx="2">
            <a:schemeClr val="accent1"/>
          </a:effectRef>
          <a:fontRef idx="minor">
            <a:schemeClr val="lt1"/>
          </a:fontRef>
        </p:style>
        <p:txBody>
          <a:bodyPr wrap="square" lIns="152400" tIns="88900" rIns="152400" bIns="50800" rtlCol="0" anchor="t"/>
          <a:lstStyle/>
          <a:p>
            <a:pPr algn="l"/>
            <a:r>
              <a:rPr sz="1050" b="1" dirty="0">
                <a:solidFill>
                  <a:srgbClr val="17263D"/>
                </a:solidFill>
              </a:rPr>
              <a:t>Orchestrated unit economics </a:t>
            </a:r>
            <a:r>
              <a:rPr lang="en-US" sz="1050" b="1" dirty="0">
                <a:solidFill>
                  <a:srgbClr val="17263D"/>
                </a:solidFill>
              </a:rPr>
              <a:t> will</a:t>
            </a:r>
            <a:r>
              <a:rPr sz="1050" b="1" dirty="0">
                <a:solidFill>
                  <a:srgbClr val="17263D"/>
                </a:solidFill>
              </a:rPr>
              <a:t> shift AI toward edge-first deployments, with cloud support used selectively where complexity justifies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0"/>
            <a:ext cx="8942832" cy="274320"/>
          </a:xfrm>
          <a:prstGeom prst="rect">
            <a:avLst/>
          </a:prstGeom>
          <a:solidFill>
            <a:srgbClr val="1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0" y="384048"/>
            <a:ext cx="1554480" cy="274320"/>
          </a:xfrm>
          <a:prstGeom prst="rect">
            <a:avLst/>
          </a:prstGeom>
          <a:noFill/>
        </p:spPr>
        <p:txBody>
          <a:bodyPr wrap="none">
            <a:spAutoFit/>
          </a:bodyPr>
          <a:lstStyle/>
          <a:p>
            <a:pPr algn="r">
              <a:defRPr sz="1100" b="1">
                <a:solidFill>
                  <a:srgbClr val="17263D"/>
                </a:solidFill>
              </a:defRPr>
            </a:pPr>
            <a:r>
              <a:t>AI FOR ALL</a:t>
            </a:r>
          </a:p>
        </p:txBody>
      </p:sp>
      <p:sp>
        <p:nvSpPr>
          <p:cNvPr id="5" name="TextBox 4"/>
          <p:cNvSpPr txBox="1"/>
          <p:nvPr/>
        </p:nvSpPr>
        <p:spPr>
          <a:xfrm>
            <a:off x="502920" y="457200"/>
            <a:ext cx="6175282" cy="615553"/>
          </a:xfrm>
          <a:prstGeom prst="rect">
            <a:avLst/>
          </a:prstGeom>
          <a:noFill/>
        </p:spPr>
        <p:txBody>
          <a:bodyPr wrap="square" lIns="0" tIns="0" rIns="0" bIns="0" anchor="t">
            <a:spAutoFit/>
          </a:bodyPr>
          <a:lstStyle/>
          <a:p>
            <a:pPr algn="l">
              <a:spcAft>
                <a:spcPts val="0"/>
              </a:spcAft>
              <a:defRPr sz="2400" b="1">
                <a:solidFill>
                  <a:srgbClr val="17263D"/>
                </a:solidFill>
              </a:defRPr>
            </a:pPr>
            <a:r>
              <a:rPr sz="2000" b="1" dirty="0">
                <a:solidFill>
                  <a:srgbClr val="17263D"/>
                </a:solidFill>
              </a:rPr>
              <a:t>Key Reasoning Metrics and Deployment</a:t>
            </a:r>
            <a:r>
              <a:rPr lang="en-US" sz="2000" b="1" dirty="0">
                <a:solidFill>
                  <a:srgbClr val="17263D"/>
                </a:solidFill>
              </a:rPr>
              <a:t> Implications </a:t>
            </a:r>
          </a:p>
          <a:p>
            <a:pPr algn="l">
              <a:spcAft>
                <a:spcPts val="0"/>
              </a:spcAft>
              <a:defRPr sz="2400" b="1">
                <a:solidFill>
                  <a:srgbClr val="17263D"/>
                </a:solidFill>
              </a:defRPr>
            </a:pPr>
            <a:endParaRPr sz="2000" b="1" dirty="0">
              <a:solidFill>
                <a:srgbClr val="17263D"/>
              </a:solidFill>
            </a:endParaRPr>
          </a:p>
        </p:txBody>
      </p:sp>
      <p:sp>
        <p:nvSpPr>
          <p:cNvPr id="6" name="TextBox 5"/>
          <p:cNvSpPr txBox="1"/>
          <p:nvPr/>
        </p:nvSpPr>
        <p:spPr>
          <a:xfrm>
            <a:off x="530352" y="1092183"/>
            <a:ext cx="7406640" cy="384048"/>
          </a:xfrm>
          <a:prstGeom prst="rect">
            <a:avLst/>
          </a:prstGeom>
          <a:noFill/>
        </p:spPr>
        <p:txBody>
          <a:bodyPr wrap="square" lIns="0" tIns="0" rIns="0" bIns="0" anchor="t">
            <a:spAutoFit/>
          </a:bodyPr>
          <a:lstStyle/>
          <a:p>
            <a:pPr algn="l">
              <a:spcAft>
                <a:spcPts val="0"/>
              </a:spcAft>
              <a:defRPr sz="1100">
                <a:solidFill>
                  <a:srgbClr val="445162"/>
                </a:solidFill>
              </a:defRPr>
            </a:pPr>
            <a:r>
              <a:rPr sz="1100" b="0" dirty="0">
                <a:solidFill>
                  <a:srgbClr val="445162"/>
                </a:solidFill>
              </a:rPr>
              <a:t>How math, science, and fluid intelligence inform practical deployment</a:t>
            </a:r>
          </a:p>
        </p:txBody>
      </p:sp>
      <p:sp>
        <p:nvSpPr>
          <p:cNvPr id="7" name="TextBox 6"/>
          <p:cNvSpPr txBox="1"/>
          <p:nvPr/>
        </p:nvSpPr>
        <p:spPr>
          <a:xfrm>
            <a:off x="658368" y="1371600"/>
            <a:ext cx="7772400" cy="411480"/>
          </a:xfrm>
          <a:prstGeom prst="rect">
            <a:avLst/>
          </a:prstGeom>
          <a:noFill/>
        </p:spPr>
        <p:txBody>
          <a:bodyPr wrap="square" lIns="0" tIns="0" rIns="0" bIns="0" anchor="t">
            <a:spAutoFit/>
          </a:bodyPr>
          <a:lstStyle/>
          <a:p>
            <a:pPr algn="l">
              <a:spcAft>
                <a:spcPts val="0"/>
              </a:spcAft>
              <a:defRPr sz="1200">
                <a:solidFill>
                  <a:srgbClr val="445162"/>
                </a:solidFill>
              </a:defRPr>
            </a:pPr>
            <a:r>
              <a:rPr sz="1050" b="0" dirty="0">
                <a:solidFill>
                  <a:srgbClr val="445162"/>
                </a:solidFill>
              </a:rPr>
              <a:t>These benchmarks are best understood as deployment signals: many tasks can run locally, some benefit from a secondary reasoning tier, and only a narrow set justify frontier escalation.</a:t>
            </a:r>
          </a:p>
        </p:txBody>
      </p:sp>
      <p:sp>
        <p:nvSpPr>
          <p:cNvPr id="8" name="Rounded Rectangle 7"/>
          <p:cNvSpPr/>
          <p:nvPr/>
        </p:nvSpPr>
        <p:spPr>
          <a:xfrm>
            <a:off x="658368" y="1828800"/>
            <a:ext cx="3822191" cy="1335024"/>
          </a:xfrm>
          <a:prstGeom prst="roundRect">
            <a:avLst/>
          </a:prstGeom>
          <a:solidFill>
            <a:srgbClr val="FFFFFF"/>
          </a:solidFill>
          <a:ln w="1524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68096" y="1956816"/>
            <a:ext cx="411480" cy="292608"/>
          </a:xfrm>
          <a:prstGeom prst="round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 y="1938528"/>
            <a:ext cx="411480" cy="292608"/>
          </a:xfrm>
          <a:prstGeom prst="rect">
            <a:avLst/>
          </a:prstGeom>
          <a:noFill/>
        </p:spPr>
        <p:txBody>
          <a:bodyPr wrap="none">
            <a:spAutoFit/>
          </a:bodyPr>
          <a:lstStyle/>
          <a:p>
            <a:pPr algn="ctr">
              <a:defRPr sz="1300" b="1">
                <a:solidFill>
                  <a:srgbClr val="FFFFFF"/>
                </a:solidFill>
              </a:defRPr>
            </a:pPr>
            <a:r>
              <a:t>1</a:t>
            </a:r>
          </a:p>
        </p:txBody>
      </p:sp>
      <p:sp>
        <p:nvSpPr>
          <p:cNvPr id="11" name="TextBox 10"/>
          <p:cNvSpPr txBox="1"/>
          <p:nvPr/>
        </p:nvSpPr>
        <p:spPr>
          <a:xfrm>
            <a:off x="1280160" y="1920240"/>
            <a:ext cx="2941254" cy="523220"/>
          </a:xfrm>
          <a:prstGeom prst="rect">
            <a:avLst/>
          </a:prstGeom>
          <a:noFill/>
        </p:spPr>
        <p:txBody>
          <a:bodyPr wrap="none">
            <a:spAutoFit/>
          </a:bodyPr>
          <a:lstStyle/>
          <a:p>
            <a:pPr>
              <a:defRPr sz="1400" b="1">
                <a:solidFill>
                  <a:srgbClr val="17263D"/>
                </a:solidFill>
              </a:defRPr>
            </a:pPr>
            <a:r>
              <a:rPr dirty="0"/>
              <a:t>AIME 2025 (Advanced Mathematical </a:t>
            </a:r>
            <a:endParaRPr lang="en-US" dirty="0"/>
          </a:p>
          <a:p>
            <a:pPr>
              <a:defRPr sz="1400" b="1">
                <a:solidFill>
                  <a:srgbClr val="17263D"/>
                </a:solidFill>
              </a:defRPr>
            </a:pPr>
            <a:r>
              <a:rPr dirty="0"/>
              <a:t>Logic)</a:t>
            </a:r>
          </a:p>
        </p:txBody>
      </p:sp>
      <p:sp>
        <p:nvSpPr>
          <p:cNvPr id="12" name="TextBox 11"/>
          <p:cNvSpPr txBox="1"/>
          <p:nvPr/>
        </p:nvSpPr>
        <p:spPr>
          <a:xfrm>
            <a:off x="822960" y="2340864"/>
            <a:ext cx="3547871" cy="713232"/>
          </a:xfrm>
          <a:prstGeom prst="rect">
            <a:avLst/>
          </a:prstGeom>
          <a:noFill/>
        </p:spPr>
        <p:txBody>
          <a:bodyPr wrap="square">
            <a:spAutoFit/>
          </a:bodyPr>
          <a:lstStyle/>
          <a:p>
            <a:pPr>
              <a:spcAft>
                <a:spcPts val="500"/>
              </a:spcAft>
            </a:pPr>
            <a:r>
              <a:rPr sz="1100" b="1" dirty="0">
                <a:solidFill>
                  <a:srgbClr val="17263D"/>
                </a:solidFill>
              </a:rPr>
              <a:t>Frontier: </a:t>
            </a:r>
            <a:r>
              <a:rPr sz="1100" dirty="0">
                <a:solidFill>
                  <a:srgbClr val="445162"/>
                </a:solidFill>
              </a:rPr>
              <a:t>GPT-5.2 and Gemini 3.1 Pro achieve perfect or near-perfect scores (100%).</a:t>
            </a:r>
          </a:p>
          <a:p>
            <a:pPr>
              <a:spcAft>
                <a:spcPts val="500"/>
              </a:spcAft>
            </a:pPr>
            <a:r>
              <a:rPr sz="1100" b="1" dirty="0">
                <a:solidFill>
                  <a:srgbClr val="17263D"/>
                </a:solidFill>
              </a:rPr>
              <a:t>SLMs: </a:t>
            </a:r>
            <a:r>
              <a:rPr sz="1100" dirty="0">
                <a:solidFill>
                  <a:srgbClr val="445162"/>
                </a:solidFill>
              </a:rPr>
              <a:t>DeepSeek-R1-Distill-Qwen-7B achieves 55.5%, while OpenThinker3-7B hits 53.3%.</a:t>
            </a:r>
          </a:p>
        </p:txBody>
      </p:sp>
      <p:sp>
        <p:nvSpPr>
          <p:cNvPr id="13" name="Rounded Rectangle 12"/>
          <p:cNvSpPr/>
          <p:nvPr/>
        </p:nvSpPr>
        <p:spPr>
          <a:xfrm>
            <a:off x="4617720" y="1828800"/>
            <a:ext cx="3822191" cy="1335024"/>
          </a:xfrm>
          <a:prstGeom prst="roundRect">
            <a:avLst/>
          </a:prstGeom>
          <a:solidFill>
            <a:srgbClr val="FFFFFF"/>
          </a:solidFill>
          <a:ln w="1524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727448" y="1956816"/>
            <a:ext cx="411480" cy="292608"/>
          </a:xfrm>
          <a:prstGeom prst="round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27448" y="1938528"/>
            <a:ext cx="411480" cy="292608"/>
          </a:xfrm>
          <a:prstGeom prst="rect">
            <a:avLst/>
          </a:prstGeom>
          <a:noFill/>
        </p:spPr>
        <p:txBody>
          <a:bodyPr wrap="none">
            <a:spAutoFit/>
          </a:bodyPr>
          <a:lstStyle/>
          <a:p>
            <a:pPr algn="ctr">
              <a:defRPr sz="1300" b="1">
                <a:solidFill>
                  <a:srgbClr val="FFFFFF"/>
                </a:solidFill>
              </a:defRPr>
            </a:pPr>
            <a:r>
              <a:t>2</a:t>
            </a:r>
          </a:p>
        </p:txBody>
      </p:sp>
      <p:sp>
        <p:nvSpPr>
          <p:cNvPr id="16" name="TextBox 15"/>
          <p:cNvSpPr txBox="1"/>
          <p:nvPr/>
        </p:nvSpPr>
        <p:spPr>
          <a:xfrm>
            <a:off x="5239512" y="1920240"/>
            <a:ext cx="3090671" cy="347472"/>
          </a:xfrm>
          <a:prstGeom prst="rect">
            <a:avLst/>
          </a:prstGeom>
          <a:noFill/>
        </p:spPr>
        <p:txBody>
          <a:bodyPr wrap="none">
            <a:spAutoFit/>
          </a:bodyPr>
          <a:lstStyle/>
          <a:p>
            <a:pPr>
              <a:defRPr sz="1400" b="1">
                <a:solidFill>
                  <a:srgbClr val="17263D"/>
                </a:solidFill>
              </a:defRPr>
            </a:pPr>
            <a:r>
              <a:t>GPQA Diamond (PhD-Level Science)</a:t>
            </a:r>
          </a:p>
        </p:txBody>
      </p:sp>
      <p:sp>
        <p:nvSpPr>
          <p:cNvPr id="17" name="TextBox 16"/>
          <p:cNvSpPr txBox="1"/>
          <p:nvPr/>
        </p:nvSpPr>
        <p:spPr>
          <a:xfrm>
            <a:off x="4782312" y="2340864"/>
            <a:ext cx="3547871" cy="713232"/>
          </a:xfrm>
          <a:prstGeom prst="rect">
            <a:avLst/>
          </a:prstGeom>
          <a:noFill/>
        </p:spPr>
        <p:txBody>
          <a:bodyPr wrap="square">
            <a:spAutoFit/>
          </a:bodyPr>
          <a:lstStyle/>
          <a:p>
            <a:pPr>
              <a:spcAft>
                <a:spcPts val="500"/>
              </a:spcAft>
            </a:pPr>
            <a:r>
              <a:rPr sz="1100" b="1">
                <a:solidFill>
                  <a:srgbClr val="17263D"/>
                </a:solidFill>
              </a:rPr>
              <a:t>Frontier: </a:t>
            </a:r>
            <a:r>
              <a:rPr sz="1100">
                <a:solidFill>
                  <a:srgbClr val="445162"/>
                </a:solidFill>
              </a:rPr>
              <a:t>Gemini 3.1 Pro leads at 94.3%, with GPT-5.4 at 92.8%.</a:t>
            </a:r>
          </a:p>
          <a:p>
            <a:pPr>
              <a:spcAft>
                <a:spcPts val="500"/>
              </a:spcAft>
            </a:pPr>
            <a:r>
              <a:rPr sz="1100" b="1">
                <a:solidFill>
                  <a:srgbClr val="17263D"/>
                </a:solidFill>
              </a:rPr>
              <a:t>SLMs: </a:t>
            </a:r>
            <a:r>
              <a:rPr sz="1100">
                <a:solidFill>
                  <a:srgbClr val="445162"/>
                </a:solidFill>
              </a:rPr>
              <a:t>OpenThinker3-7B scores 53.7%, and DeepSeek 7B hits 49.1%.</a:t>
            </a:r>
          </a:p>
        </p:txBody>
      </p:sp>
      <p:sp>
        <p:nvSpPr>
          <p:cNvPr id="18" name="Rounded Rectangle 17"/>
          <p:cNvSpPr/>
          <p:nvPr/>
        </p:nvSpPr>
        <p:spPr>
          <a:xfrm>
            <a:off x="658368" y="3410712"/>
            <a:ext cx="3822191" cy="1335024"/>
          </a:xfrm>
          <a:prstGeom prst="roundRect">
            <a:avLst/>
          </a:prstGeom>
          <a:solidFill>
            <a:srgbClr val="FFFFFF"/>
          </a:solidFill>
          <a:ln w="1524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68096" y="3538728"/>
            <a:ext cx="411480" cy="292608"/>
          </a:xfrm>
          <a:prstGeom prst="round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 y="3520440"/>
            <a:ext cx="411480" cy="292608"/>
          </a:xfrm>
          <a:prstGeom prst="rect">
            <a:avLst/>
          </a:prstGeom>
          <a:noFill/>
        </p:spPr>
        <p:txBody>
          <a:bodyPr wrap="none">
            <a:spAutoFit/>
          </a:bodyPr>
          <a:lstStyle/>
          <a:p>
            <a:pPr algn="ctr">
              <a:defRPr sz="1300" b="1">
                <a:solidFill>
                  <a:srgbClr val="FFFFFF"/>
                </a:solidFill>
              </a:defRPr>
            </a:pPr>
            <a:r>
              <a:t>3</a:t>
            </a:r>
          </a:p>
        </p:txBody>
      </p:sp>
      <p:sp>
        <p:nvSpPr>
          <p:cNvPr id="21" name="TextBox 20"/>
          <p:cNvSpPr txBox="1"/>
          <p:nvPr/>
        </p:nvSpPr>
        <p:spPr>
          <a:xfrm>
            <a:off x="1280160" y="3502152"/>
            <a:ext cx="3090671" cy="347472"/>
          </a:xfrm>
          <a:prstGeom prst="rect">
            <a:avLst/>
          </a:prstGeom>
          <a:noFill/>
        </p:spPr>
        <p:txBody>
          <a:bodyPr wrap="none">
            <a:spAutoFit/>
          </a:bodyPr>
          <a:lstStyle/>
          <a:p>
            <a:pPr>
              <a:defRPr sz="1400" b="1">
                <a:solidFill>
                  <a:srgbClr val="17263D"/>
                </a:solidFill>
              </a:defRPr>
            </a:pPr>
            <a:r>
              <a:rPr dirty="0"/>
              <a:t>ARC-AGI-1 (Basic Abstract Reasoning)</a:t>
            </a:r>
          </a:p>
        </p:txBody>
      </p:sp>
      <p:sp>
        <p:nvSpPr>
          <p:cNvPr id="22" name="TextBox 21"/>
          <p:cNvSpPr txBox="1"/>
          <p:nvPr/>
        </p:nvSpPr>
        <p:spPr>
          <a:xfrm>
            <a:off x="822960" y="3922776"/>
            <a:ext cx="3547871" cy="713232"/>
          </a:xfrm>
          <a:prstGeom prst="rect">
            <a:avLst/>
          </a:prstGeom>
          <a:noFill/>
        </p:spPr>
        <p:txBody>
          <a:bodyPr wrap="square">
            <a:spAutoFit/>
          </a:bodyPr>
          <a:lstStyle/>
          <a:p>
            <a:pPr>
              <a:spcAft>
                <a:spcPts val="500"/>
              </a:spcAft>
            </a:pPr>
            <a:r>
              <a:rPr sz="1100" b="1" dirty="0">
                <a:solidFill>
                  <a:srgbClr val="17263D"/>
                </a:solidFill>
              </a:rPr>
              <a:t>Frontier: </a:t>
            </a:r>
            <a:r>
              <a:rPr sz="1100" dirty="0">
                <a:solidFill>
                  <a:srgbClr val="445162"/>
                </a:solidFill>
              </a:rPr>
              <a:t>Claude Opus 4.6 achieves 94.0%.</a:t>
            </a:r>
          </a:p>
          <a:p>
            <a:pPr>
              <a:spcAft>
                <a:spcPts val="500"/>
              </a:spcAft>
            </a:pPr>
            <a:r>
              <a:rPr sz="1100" b="1" dirty="0">
                <a:solidFill>
                  <a:srgbClr val="17263D"/>
                </a:solidFill>
              </a:rPr>
              <a:t>SLMs: </a:t>
            </a:r>
            <a:r>
              <a:rPr sz="1100" dirty="0">
                <a:solidFill>
                  <a:srgbClr val="445162"/>
                </a:solidFill>
              </a:rPr>
              <a:t>Distilled SLMs reliably score between 30% and 50%, handling basic compositional patterns with high efficiency.</a:t>
            </a:r>
          </a:p>
        </p:txBody>
      </p:sp>
      <p:sp>
        <p:nvSpPr>
          <p:cNvPr id="23" name="Rounded Rectangle 22"/>
          <p:cNvSpPr/>
          <p:nvPr/>
        </p:nvSpPr>
        <p:spPr>
          <a:xfrm>
            <a:off x="4617720" y="3410712"/>
            <a:ext cx="3822191" cy="2350008"/>
          </a:xfrm>
          <a:prstGeom prst="roundRect">
            <a:avLst/>
          </a:prstGeom>
          <a:solidFill>
            <a:srgbClr val="FFFFFF"/>
          </a:solidFill>
          <a:ln w="1524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727448" y="3538728"/>
            <a:ext cx="411480" cy="292608"/>
          </a:xfrm>
          <a:prstGeom prst="round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27448" y="3520440"/>
            <a:ext cx="411480" cy="292608"/>
          </a:xfrm>
          <a:prstGeom prst="rect">
            <a:avLst/>
          </a:prstGeom>
          <a:noFill/>
        </p:spPr>
        <p:txBody>
          <a:bodyPr wrap="none">
            <a:spAutoFit/>
          </a:bodyPr>
          <a:lstStyle/>
          <a:p>
            <a:pPr algn="ctr">
              <a:defRPr sz="1300" b="1">
                <a:solidFill>
                  <a:srgbClr val="FFFFFF"/>
                </a:solidFill>
              </a:defRPr>
            </a:pPr>
            <a:r>
              <a:t>4</a:t>
            </a:r>
          </a:p>
        </p:txBody>
      </p:sp>
      <p:sp>
        <p:nvSpPr>
          <p:cNvPr id="26" name="TextBox 25"/>
          <p:cNvSpPr txBox="1"/>
          <p:nvPr/>
        </p:nvSpPr>
        <p:spPr>
          <a:xfrm>
            <a:off x="5239512" y="3502152"/>
            <a:ext cx="3174972" cy="738664"/>
          </a:xfrm>
          <a:prstGeom prst="rect">
            <a:avLst/>
          </a:prstGeom>
          <a:noFill/>
        </p:spPr>
        <p:txBody>
          <a:bodyPr wrap="none">
            <a:spAutoFit/>
          </a:bodyPr>
          <a:lstStyle/>
          <a:p>
            <a:pPr>
              <a:defRPr sz="1400" b="1">
                <a:solidFill>
                  <a:srgbClr val="17263D"/>
                </a:solidFill>
              </a:defRPr>
            </a:pPr>
            <a:r>
              <a:rPr dirty="0"/>
              <a:t>ARC-AGI-2 (Complex Fluid Intelligence </a:t>
            </a:r>
            <a:r>
              <a:rPr lang="en-IN" dirty="0"/>
              <a:t>–</a:t>
            </a:r>
            <a:r>
              <a:rPr dirty="0"/>
              <a:t> </a:t>
            </a:r>
            <a:endParaRPr lang="en-US" dirty="0"/>
          </a:p>
          <a:p>
            <a:pPr>
              <a:defRPr sz="1400" b="1">
                <a:solidFill>
                  <a:srgbClr val="17263D"/>
                </a:solidFill>
              </a:defRPr>
            </a:pPr>
            <a:r>
              <a:rPr dirty="0"/>
              <a:t>The "Reasoning Wall")</a:t>
            </a:r>
            <a:endParaRPr lang="en-US" dirty="0"/>
          </a:p>
          <a:p>
            <a:pPr>
              <a:defRPr sz="1400" b="1">
                <a:solidFill>
                  <a:srgbClr val="17263D"/>
                </a:solidFill>
              </a:defRPr>
            </a:pPr>
            <a:endParaRPr dirty="0"/>
          </a:p>
        </p:txBody>
      </p:sp>
      <p:sp>
        <p:nvSpPr>
          <p:cNvPr id="27" name="TextBox 26"/>
          <p:cNvSpPr txBox="1"/>
          <p:nvPr/>
        </p:nvSpPr>
        <p:spPr>
          <a:xfrm>
            <a:off x="4727449" y="3922776"/>
            <a:ext cx="3822192" cy="1405513"/>
          </a:xfrm>
          <a:prstGeom prst="rect">
            <a:avLst/>
          </a:prstGeom>
          <a:noFill/>
        </p:spPr>
        <p:txBody>
          <a:bodyPr wrap="square">
            <a:spAutoFit/>
          </a:bodyPr>
          <a:lstStyle/>
          <a:p>
            <a:pPr>
              <a:spcAft>
                <a:spcPts val="500"/>
              </a:spcAft>
            </a:pPr>
            <a:endParaRPr lang="en-US" sz="1100" b="1" dirty="0">
              <a:solidFill>
                <a:srgbClr val="17263D"/>
              </a:solidFill>
            </a:endParaRPr>
          </a:p>
          <a:p>
            <a:pPr>
              <a:spcAft>
                <a:spcPts val="500"/>
              </a:spcAft>
            </a:pPr>
            <a:r>
              <a:rPr sz="1100" b="1" dirty="0">
                <a:solidFill>
                  <a:srgbClr val="17263D"/>
                </a:solidFill>
              </a:rPr>
              <a:t>Frontier: </a:t>
            </a:r>
            <a:r>
              <a:rPr sz="1100" dirty="0">
                <a:solidFill>
                  <a:srgbClr val="445162"/>
                </a:solidFill>
              </a:rPr>
              <a:t>Gemini Deep Think hits 84.6%, Gemini 3.1 Pro hits 77.1%, and Claude Opus 4.6 falls to 68.8%.</a:t>
            </a:r>
          </a:p>
          <a:p>
            <a:pPr>
              <a:spcAft>
                <a:spcPts val="500"/>
              </a:spcAft>
            </a:pPr>
            <a:r>
              <a:rPr sz="1100" b="1" dirty="0">
                <a:solidFill>
                  <a:srgbClr val="17263D"/>
                </a:solidFill>
              </a:rPr>
              <a:t>SLMs: </a:t>
            </a:r>
            <a:r>
              <a:rPr sz="1100" dirty="0">
                <a:solidFill>
                  <a:srgbClr val="445162"/>
                </a:solidFill>
              </a:rPr>
              <a:t>Without massive Test-Time Compute (TTC), base SLMs struggle heavily here, often scoring in the single digits, highlighting </a:t>
            </a:r>
            <a:r>
              <a:rPr lang="en-US" sz="1100" dirty="0">
                <a:solidFill>
                  <a:srgbClr val="445162"/>
                </a:solidFill>
              </a:rPr>
              <a:t>a clear</a:t>
            </a:r>
            <a:r>
              <a:rPr sz="1100" dirty="0">
                <a:solidFill>
                  <a:srgbClr val="445162"/>
                </a:solidFill>
              </a:rPr>
              <a:t> boundary </a:t>
            </a:r>
            <a:r>
              <a:rPr lang="en-US" sz="1100" dirty="0">
                <a:solidFill>
                  <a:srgbClr val="445162"/>
                </a:solidFill>
              </a:rPr>
              <a:t>in </a:t>
            </a:r>
            <a:r>
              <a:rPr sz="1100" dirty="0">
                <a:solidFill>
                  <a:srgbClr val="445162"/>
                </a:solidFill>
              </a:rPr>
              <a:t>the current </a:t>
            </a:r>
            <a:r>
              <a:rPr lang="en-US" sz="1100" dirty="0">
                <a:solidFill>
                  <a:srgbClr val="445162"/>
                </a:solidFill>
              </a:rPr>
              <a:t>fluid-</a:t>
            </a:r>
            <a:r>
              <a:rPr sz="1100" dirty="0">
                <a:solidFill>
                  <a:srgbClr val="445162"/>
                </a:solidFill>
              </a:rPr>
              <a:t>reasoning </a:t>
            </a:r>
            <a:r>
              <a:rPr lang="en-US" sz="1100" dirty="0">
                <a:solidFill>
                  <a:srgbClr val="445162"/>
                </a:solidFill>
              </a:rPr>
              <a:t>performance </a:t>
            </a:r>
            <a:r>
              <a:rPr sz="1100" dirty="0">
                <a:solidFill>
                  <a:srgbClr val="445162"/>
                </a:solidFill>
              </a:rPr>
              <a:t>.</a:t>
            </a:r>
          </a:p>
        </p:txBody>
      </p:sp>
      <p:sp>
        <p:nvSpPr>
          <p:cNvPr id="28" name="TextBox 27"/>
          <p:cNvSpPr txBox="1"/>
          <p:nvPr/>
        </p:nvSpPr>
        <p:spPr>
          <a:xfrm>
            <a:off x="7046539" y="6428232"/>
            <a:ext cx="1548821" cy="230832"/>
          </a:xfrm>
          <a:prstGeom prst="rect">
            <a:avLst/>
          </a:prstGeom>
          <a:noFill/>
        </p:spPr>
        <p:txBody>
          <a:bodyPr wrap="none">
            <a:spAutoFit/>
          </a:bodyPr>
          <a:lstStyle/>
          <a:p>
            <a:pPr algn="r">
              <a:defRPr sz="900">
                <a:solidFill>
                  <a:srgbClr val="728192"/>
                </a:solidFill>
              </a:defRPr>
            </a:pPr>
            <a:r>
              <a:rPr dirty="0"/>
              <a:t>AI FOR ALL | Research Desk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0"/>
            <a:ext cx="8942832" cy="274320"/>
          </a:xfrm>
          <a:prstGeom prst="rect">
            <a:avLst/>
          </a:prstGeom>
          <a:solidFill>
            <a:srgbClr val="1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0" y="384048"/>
            <a:ext cx="1554480" cy="274320"/>
          </a:xfrm>
          <a:prstGeom prst="rect">
            <a:avLst/>
          </a:prstGeom>
          <a:noFill/>
        </p:spPr>
        <p:txBody>
          <a:bodyPr wrap="none">
            <a:spAutoFit/>
          </a:bodyPr>
          <a:lstStyle/>
          <a:p>
            <a:pPr algn="r">
              <a:defRPr sz="1100" b="1">
                <a:solidFill>
                  <a:srgbClr val="17263D"/>
                </a:solidFill>
              </a:defRPr>
            </a:pPr>
            <a:r>
              <a:t>AI FOR ALL</a:t>
            </a:r>
          </a:p>
        </p:txBody>
      </p:sp>
      <p:sp>
        <p:nvSpPr>
          <p:cNvPr id="5" name="TextBox 4"/>
          <p:cNvSpPr txBox="1"/>
          <p:nvPr/>
        </p:nvSpPr>
        <p:spPr>
          <a:xfrm>
            <a:off x="502920" y="457200"/>
            <a:ext cx="4165115" cy="461665"/>
          </a:xfrm>
          <a:prstGeom prst="rect">
            <a:avLst/>
          </a:prstGeom>
          <a:noFill/>
        </p:spPr>
        <p:txBody>
          <a:bodyPr wrap="none">
            <a:spAutoFit/>
          </a:bodyPr>
          <a:lstStyle/>
          <a:p>
            <a:pPr>
              <a:defRPr sz="2400" b="1">
                <a:solidFill>
                  <a:srgbClr val="17263D"/>
                </a:solidFill>
              </a:defRPr>
            </a:pPr>
            <a:r>
              <a:rPr dirty="0"/>
              <a:t>Breaking the "Reasoning Wall"</a:t>
            </a:r>
          </a:p>
        </p:txBody>
      </p:sp>
      <p:sp>
        <p:nvSpPr>
          <p:cNvPr id="6" name="TextBox 5"/>
          <p:cNvSpPr txBox="1"/>
          <p:nvPr/>
        </p:nvSpPr>
        <p:spPr>
          <a:xfrm>
            <a:off x="530352" y="1024128"/>
            <a:ext cx="7406640" cy="384048"/>
          </a:xfrm>
          <a:prstGeom prst="rect">
            <a:avLst/>
          </a:prstGeom>
          <a:noFill/>
        </p:spPr>
        <p:txBody>
          <a:bodyPr wrap="square" lIns="0" tIns="0" rIns="0" bIns="0" anchor="t">
            <a:spAutoFit/>
          </a:bodyPr>
          <a:lstStyle/>
          <a:p>
            <a:pPr algn="l">
              <a:spcAft>
                <a:spcPts val="0"/>
              </a:spcAft>
              <a:defRPr sz="1100">
                <a:solidFill>
                  <a:srgbClr val="445162"/>
                </a:solidFill>
              </a:defRPr>
            </a:pPr>
            <a:r>
              <a:rPr sz="1100" b="0">
                <a:solidFill>
                  <a:srgbClr val="445162"/>
                </a:solidFill>
              </a:rPr>
              <a:t>How SLMs Improve Through Algorithmic Efficiency, Not Just Scale</a:t>
            </a:r>
          </a:p>
        </p:txBody>
      </p:sp>
      <p:sp>
        <p:nvSpPr>
          <p:cNvPr id="7" name="Rounded Rectangle 6"/>
          <p:cNvSpPr/>
          <p:nvPr/>
        </p:nvSpPr>
        <p:spPr>
          <a:xfrm>
            <a:off x="566928" y="1444752"/>
            <a:ext cx="8065008" cy="621792"/>
          </a:xfrm>
          <a:prstGeom prst="roundRect">
            <a:avLst/>
          </a:prstGeom>
          <a:solidFill>
            <a:srgbClr val="DDE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91056"/>
            <a:ext cx="7814383" cy="461665"/>
          </a:xfrm>
          <a:prstGeom prst="rect">
            <a:avLst/>
          </a:prstGeom>
          <a:noFill/>
        </p:spPr>
        <p:txBody>
          <a:bodyPr wrap="none">
            <a:spAutoFit/>
          </a:bodyPr>
          <a:lstStyle/>
          <a:p>
            <a:pPr>
              <a:defRPr sz="1200">
                <a:solidFill>
                  <a:srgbClr val="17263D"/>
                </a:solidFill>
              </a:defRPr>
            </a:pPr>
            <a:r>
              <a:rPr dirty="0"/>
              <a:t>To bridge the gap with frontier models, the open-source community has shifted from brute-force pre-training to advanced </a:t>
            </a:r>
            <a:endParaRPr lang="en-US" dirty="0"/>
          </a:p>
          <a:p>
            <a:pPr>
              <a:defRPr sz="1200">
                <a:solidFill>
                  <a:srgbClr val="17263D"/>
                </a:solidFill>
              </a:defRPr>
            </a:pPr>
            <a:r>
              <a:rPr dirty="0"/>
              <a:t>algorithmic efficiency to break through reasoning walls like ARC-AGI-2:</a:t>
            </a:r>
          </a:p>
        </p:txBody>
      </p:sp>
      <p:sp>
        <p:nvSpPr>
          <p:cNvPr id="9" name="TextBox 8"/>
          <p:cNvSpPr txBox="1"/>
          <p:nvPr/>
        </p:nvSpPr>
        <p:spPr>
          <a:xfrm>
            <a:off x="713232" y="2331720"/>
            <a:ext cx="7516368" cy="2600712"/>
          </a:xfrm>
          <a:prstGeom prst="rect">
            <a:avLst/>
          </a:prstGeom>
          <a:noFill/>
        </p:spPr>
        <p:txBody>
          <a:bodyPr wrap="square" lIns="0" rIns="0" anchor="t">
            <a:spAutoFit/>
          </a:bodyPr>
          <a:lstStyle/>
          <a:p>
            <a:pPr>
              <a:spcAft>
                <a:spcPts val="800"/>
              </a:spcAft>
            </a:pPr>
            <a:r>
              <a:rPr sz="1300" b="1" dirty="0">
                <a:solidFill>
                  <a:srgbClr val="17263D"/>
                </a:solidFill>
              </a:rPr>
              <a:t>Scaling Test-Time Compute (TTC): </a:t>
            </a:r>
            <a:r>
              <a:rPr sz="1300" dirty="0">
                <a:solidFill>
                  <a:srgbClr val="445162"/>
                </a:solidFill>
              </a:rPr>
              <a:t>Instead of relying solely on memorized data, architectures are now designed to generate thousands of internal Chain-of-Thought (</a:t>
            </a:r>
            <a:r>
              <a:rPr sz="1300" dirty="0" err="1">
                <a:solidFill>
                  <a:srgbClr val="445162"/>
                </a:solidFill>
              </a:rPr>
              <a:t>CoT</a:t>
            </a:r>
            <a:r>
              <a:rPr sz="1300" dirty="0">
                <a:solidFill>
                  <a:srgbClr val="445162"/>
                </a:solidFill>
              </a:rPr>
              <a:t>) tokens, allowing the model to explicitly "think" through and verify sub-steps before responding.</a:t>
            </a:r>
          </a:p>
          <a:p>
            <a:pPr>
              <a:spcAft>
                <a:spcPts val="800"/>
              </a:spcAft>
            </a:pPr>
            <a:r>
              <a:rPr sz="1300" b="1" dirty="0">
                <a:solidFill>
                  <a:srgbClr val="17263D"/>
                </a:solidFill>
              </a:rPr>
              <a:t>Large-Scale Reinforcement Learning (RL): </a:t>
            </a:r>
            <a:r>
              <a:rPr sz="1300" dirty="0">
                <a:solidFill>
                  <a:srgbClr val="445162"/>
                </a:solidFill>
              </a:rPr>
              <a:t>The introduction of models like DeepSeek-R1-Zero proved that deep reasoning behaviors can emerge naturally by applying RL directly to base models, bypassing the need for traditional supervised fine-tuning.</a:t>
            </a:r>
          </a:p>
          <a:p>
            <a:pPr>
              <a:spcAft>
                <a:spcPts val="800"/>
              </a:spcAft>
            </a:pPr>
            <a:r>
              <a:rPr sz="1300" b="1" dirty="0">
                <a:solidFill>
                  <a:srgbClr val="17263D"/>
                </a:solidFill>
              </a:rPr>
              <a:t>Iterative Refinement Loops: </a:t>
            </a:r>
            <a:r>
              <a:rPr sz="1300" dirty="0">
                <a:solidFill>
                  <a:srgbClr val="445162"/>
                </a:solidFill>
              </a:rPr>
              <a:t>The defining breakthrough of 2025 was the "refinement loop" where an AI iteratively critiques and improves its own outputs. This allowed remarkably small networks (even down to 7M parameters) to achieve competitive reasoning scores on fluid intelligence tasks.</a:t>
            </a:r>
          </a:p>
          <a:p>
            <a:pPr>
              <a:spcAft>
                <a:spcPts val="800"/>
              </a:spcAft>
            </a:pPr>
            <a:r>
              <a:rPr sz="1300" b="1" dirty="0">
                <a:solidFill>
                  <a:srgbClr val="17263D"/>
                </a:solidFill>
              </a:rPr>
              <a:t>Synthetic Distillation: </a:t>
            </a:r>
            <a:r>
              <a:rPr sz="1300" dirty="0">
                <a:solidFill>
                  <a:srgbClr val="445162"/>
                </a:solidFill>
              </a:rPr>
              <a:t>Using massive frontier models as "teachers" to generate highly curated synthetic datasets, distilling complex logic into dense </a:t>
            </a:r>
            <a:r>
              <a:rPr lang="en-US" sz="1300" dirty="0">
                <a:solidFill>
                  <a:srgbClr val="445162"/>
                </a:solidFill>
              </a:rPr>
              <a:t>low range </a:t>
            </a:r>
            <a:r>
              <a:rPr sz="1300" dirty="0">
                <a:solidFill>
                  <a:srgbClr val="445162"/>
                </a:solidFill>
              </a:rPr>
              <a:t>parameter</a:t>
            </a:r>
            <a:r>
              <a:rPr lang="en-US" sz="1300" dirty="0">
                <a:solidFill>
                  <a:srgbClr val="445162"/>
                </a:solidFill>
              </a:rPr>
              <a:t>s.</a:t>
            </a:r>
            <a:endParaRPr sz="1300" dirty="0">
              <a:solidFill>
                <a:srgbClr val="445162"/>
              </a:solidFill>
            </a:endParaRPr>
          </a:p>
        </p:txBody>
      </p:sp>
      <p:sp>
        <p:nvSpPr>
          <p:cNvPr id="10" name="Rounded Rectangle 9"/>
          <p:cNvSpPr/>
          <p:nvPr/>
        </p:nvSpPr>
        <p:spPr>
          <a:xfrm>
            <a:off x="781835" y="6172201"/>
            <a:ext cx="7772400" cy="228600"/>
          </a:xfrm>
          <a:prstGeom prst="roundRect">
            <a:avLst/>
          </a:prstGeom>
          <a:solidFill>
            <a:srgbClr val="FFFFFF"/>
          </a:solidFill>
          <a:ln w="1270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6172200"/>
            <a:ext cx="7452360" cy="164592"/>
          </a:xfrm>
          <a:prstGeom prst="rect">
            <a:avLst/>
          </a:prstGeom>
          <a:noFill/>
        </p:spPr>
        <p:txBody>
          <a:bodyPr wrap="square" lIns="0" tIns="0" rIns="0" bIns="0" anchor="t">
            <a:spAutoFit/>
          </a:bodyPr>
          <a:lstStyle/>
          <a:p>
            <a:pPr algn="l">
              <a:spcAft>
                <a:spcPts val="0"/>
              </a:spcAft>
              <a:defRPr sz="1019" b="1">
                <a:solidFill>
                  <a:srgbClr val="2A60C6"/>
                </a:solidFill>
              </a:defRPr>
            </a:pPr>
            <a:r>
              <a:rPr sz="1050" b="1">
                <a:solidFill>
                  <a:srgbClr val="17263D"/>
                </a:solidFill>
              </a:rPr>
              <a:t>The reasoning wall is not a failure point; it marks where algorithmic refinement and selective escalation become useful.</a:t>
            </a:r>
          </a:p>
        </p:txBody>
      </p:sp>
      <p:sp>
        <p:nvSpPr>
          <p:cNvPr id="12" name="TextBox 11"/>
          <p:cNvSpPr txBox="1"/>
          <p:nvPr/>
        </p:nvSpPr>
        <p:spPr>
          <a:xfrm>
            <a:off x="7053718" y="6446520"/>
            <a:ext cx="1495922" cy="230832"/>
          </a:xfrm>
          <a:prstGeom prst="rect">
            <a:avLst/>
          </a:prstGeom>
          <a:noFill/>
        </p:spPr>
        <p:txBody>
          <a:bodyPr wrap="none">
            <a:spAutoFit/>
          </a:bodyPr>
          <a:lstStyle/>
          <a:p>
            <a:pPr algn="r">
              <a:defRPr sz="900">
                <a:solidFill>
                  <a:srgbClr val="728192"/>
                </a:solidFill>
              </a:defRPr>
            </a:pPr>
            <a:r>
              <a:rPr dirty="0"/>
              <a:t>AI FOR ALL | Research Desk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0"/>
            <a:ext cx="8942832" cy="274320"/>
          </a:xfrm>
          <a:prstGeom prst="rect">
            <a:avLst/>
          </a:prstGeom>
          <a:solidFill>
            <a:srgbClr val="1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0" y="384048"/>
            <a:ext cx="1554480" cy="274320"/>
          </a:xfrm>
          <a:prstGeom prst="rect">
            <a:avLst/>
          </a:prstGeom>
          <a:noFill/>
        </p:spPr>
        <p:txBody>
          <a:bodyPr wrap="none">
            <a:spAutoFit/>
          </a:bodyPr>
          <a:lstStyle/>
          <a:p>
            <a:pPr algn="r">
              <a:defRPr sz="1100" b="1">
                <a:solidFill>
                  <a:srgbClr val="17263D"/>
                </a:solidFill>
              </a:defRPr>
            </a:pPr>
            <a:r>
              <a:t>AI FOR ALL</a:t>
            </a:r>
          </a:p>
        </p:txBody>
      </p:sp>
      <p:sp>
        <p:nvSpPr>
          <p:cNvPr id="5" name="TextBox 4"/>
          <p:cNvSpPr txBox="1"/>
          <p:nvPr/>
        </p:nvSpPr>
        <p:spPr>
          <a:xfrm>
            <a:off x="502920" y="457200"/>
            <a:ext cx="5972854" cy="461665"/>
          </a:xfrm>
          <a:prstGeom prst="rect">
            <a:avLst/>
          </a:prstGeom>
          <a:noFill/>
        </p:spPr>
        <p:txBody>
          <a:bodyPr wrap="square" lIns="0" tIns="0" rIns="0" bIns="0" anchor="t">
            <a:spAutoFit/>
          </a:bodyPr>
          <a:lstStyle/>
          <a:p>
            <a:pPr algn="l">
              <a:spcAft>
                <a:spcPts val="0"/>
              </a:spcAft>
              <a:defRPr sz="2400" b="1">
                <a:solidFill>
                  <a:srgbClr val="17263D"/>
                </a:solidFill>
              </a:defRPr>
            </a:pPr>
            <a:r>
              <a:rPr sz="2400" b="1">
                <a:solidFill>
                  <a:srgbClr val="17263D"/>
                </a:solidFill>
              </a:rPr>
              <a:t>2024-2030 Capability Outlook</a:t>
            </a:r>
            <a:endParaRPr sz="2000" i="1" dirty="0"/>
          </a:p>
        </p:txBody>
      </p:sp>
      <p:sp>
        <p:nvSpPr>
          <p:cNvPr id="6" name="TextBox 5"/>
          <p:cNvSpPr txBox="1"/>
          <p:nvPr/>
        </p:nvSpPr>
        <p:spPr>
          <a:xfrm>
            <a:off x="530352" y="1024128"/>
            <a:ext cx="7406640" cy="384048"/>
          </a:xfrm>
          <a:prstGeom prst="rect">
            <a:avLst/>
          </a:prstGeom>
          <a:noFill/>
        </p:spPr>
        <p:txBody>
          <a:bodyPr wrap="square" lIns="0" tIns="0" rIns="0" bIns="0" anchor="t">
            <a:spAutoFit/>
          </a:bodyPr>
          <a:lstStyle/>
          <a:p>
            <a:pPr algn="l">
              <a:spcAft>
                <a:spcPts val="0"/>
              </a:spcAft>
              <a:defRPr sz="1100">
                <a:solidFill>
                  <a:srgbClr val="445162"/>
                </a:solidFill>
              </a:defRPr>
            </a:pPr>
            <a:r>
              <a:rPr sz="1100" b="0">
                <a:solidFill>
                  <a:srgbClr val="445162"/>
                </a:solidFill>
              </a:rPr>
              <a:t>Closing the Practical Deployment Gap</a:t>
            </a:r>
          </a:p>
        </p:txBody>
      </p:sp>
      <p:sp>
        <p:nvSpPr>
          <p:cNvPr id="7" name="TextBox 6"/>
          <p:cNvSpPr txBox="1"/>
          <p:nvPr/>
        </p:nvSpPr>
        <p:spPr>
          <a:xfrm>
            <a:off x="658368" y="1335024"/>
            <a:ext cx="8027454" cy="276999"/>
          </a:xfrm>
          <a:prstGeom prst="rect">
            <a:avLst/>
          </a:prstGeom>
          <a:noFill/>
        </p:spPr>
        <p:txBody>
          <a:bodyPr wrap="square" lIns="0" tIns="0" rIns="0" bIns="0" anchor="t">
            <a:spAutoFit/>
          </a:bodyPr>
          <a:lstStyle/>
          <a:p>
            <a:pPr algn="l">
              <a:spcAft>
                <a:spcPts val="0"/>
              </a:spcAft>
              <a:defRPr sz="1200">
                <a:solidFill>
                  <a:srgbClr val="445162"/>
                </a:solidFill>
              </a:defRPr>
            </a:pPr>
            <a:r>
              <a:rPr sz="1050" b="0">
                <a:solidFill>
                  <a:srgbClr val="445162"/>
                </a:solidFill>
              </a:rPr>
              <a:t>The chart below maps estimated aggregate capability across Reasoning (ARC-AGI 1 &amp; 2), Math (AIME), and Science (GPQA).</a:t>
            </a:r>
          </a:p>
        </p:txBody>
      </p:sp>
      <p:pic>
        <p:nvPicPr>
          <p:cNvPr id="8" name="Picture 7" descr="lindyn_ai_capability_chart_v2.png"/>
          <p:cNvPicPr>
            <a:picLocks noChangeAspect="1"/>
          </p:cNvPicPr>
          <p:nvPr/>
        </p:nvPicPr>
        <p:blipFill>
          <a:blip r:embed="rId2"/>
          <a:stretch>
            <a:fillRect/>
          </a:stretch>
        </p:blipFill>
        <p:spPr>
          <a:xfrm>
            <a:off x="713232" y="2000681"/>
            <a:ext cx="5394960" cy="3049981"/>
          </a:xfrm>
          <a:prstGeom prst="rect">
            <a:avLst/>
          </a:prstGeom>
        </p:spPr>
      </p:pic>
      <p:sp>
        <p:nvSpPr>
          <p:cNvPr id="9" name="Rounded Rectangle 8"/>
          <p:cNvSpPr/>
          <p:nvPr/>
        </p:nvSpPr>
        <p:spPr>
          <a:xfrm>
            <a:off x="6199632" y="1828800"/>
            <a:ext cx="2286000" cy="4160520"/>
          </a:xfrm>
          <a:prstGeom prst="roundRect">
            <a:avLst/>
          </a:prstGeom>
          <a:solidFill>
            <a:srgbClr val="FFFFFF"/>
          </a:solidFill>
          <a:ln w="1524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82512" y="1956816"/>
            <a:ext cx="1654556" cy="715581"/>
          </a:xfrm>
          <a:prstGeom prst="rect">
            <a:avLst/>
          </a:prstGeom>
          <a:noFill/>
        </p:spPr>
        <p:txBody>
          <a:bodyPr wrap="none">
            <a:spAutoFit/>
          </a:bodyPr>
          <a:lstStyle/>
          <a:p>
            <a:pPr>
              <a:defRPr sz="1350" b="1">
                <a:solidFill>
                  <a:srgbClr val="17263D"/>
                </a:solidFill>
              </a:defRPr>
            </a:pPr>
            <a:endParaRPr lang="en-US" dirty="0"/>
          </a:p>
          <a:p>
            <a:pPr>
              <a:defRPr sz="1350" b="1">
                <a:solidFill>
                  <a:srgbClr val="17263D"/>
                </a:solidFill>
              </a:defRPr>
            </a:pPr>
            <a:r>
              <a:rPr dirty="0"/>
              <a:t>Quantitative Matrix</a:t>
            </a:r>
            <a:r>
              <a:rPr lang="en-US" dirty="0"/>
              <a:t>-</a:t>
            </a:r>
          </a:p>
          <a:p>
            <a:pPr>
              <a:defRPr sz="1350" b="1">
                <a:solidFill>
                  <a:srgbClr val="17263D"/>
                </a:solidFill>
              </a:defRPr>
            </a:pPr>
            <a:r>
              <a:rPr lang="en-US" dirty="0"/>
              <a:t> Estimated</a:t>
            </a:r>
            <a:endParaRPr dirty="0"/>
          </a:p>
        </p:txBody>
      </p:sp>
      <p:sp>
        <p:nvSpPr>
          <p:cNvPr id="11" name="TextBox 10"/>
          <p:cNvSpPr txBox="1"/>
          <p:nvPr/>
        </p:nvSpPr>
        <p:spPr>
          <a:xfrm>
            <a:off x="6382512" y="2304288"/>
            <a:ext cx="1920240" cy="2323713"/>
          </a:xfrm>
          <a:prstGeom prst="rect">
            <a:avLst/>
          </a:prstGeom>
          <a:noFill/>
        </p:spPr>
        <p:txBody>
          <a:bodyPr wrap="square">
            <a:spAutoFit/>
          </a:bodyPr>
          <a:lstStyle/>
          <a:p>
            <a:pPr>
              <a:spcAft>
                <a:spcPts val="400"/>
              </a:spcAft>
              <a:defRPr sz="1150">
                <a:solidFill>
                  <a:srgbClr val="17263D"/>
                </a:solidFill>
              </a:defRPr>
            </a:pPr>
            <a:endParaRPr lang="en-US" dirty="0"/>
          </a:p>
          <a:p>
            <a:pPr>
              <a:spcAft>
                <a:spcPts val="400"/>
              </a:spcAft>
              <a:defRPr sz="1150">
                <a:solidFill>
                  <a:srgbClr val="17263D"/>
                </a:solidFill>
              </a:defRPr>
            </a:pPr>
            <a:endParaRPr lang="en-IN" dirty="0"/>
          </a:p>
          <a:p>
            <a:pPr>
              <a:spcAft>
                <a:spcPts val="400"/>
              </a:spcAft>
              <a:defRPr sz="1150">
                <a:solidFill>
                  <a:srgbClr val="17263D"/>
                </a:solidFill>
              </a:defRPr>
            </a:pPr>
            <a:endParaRPr lang="en-US" dirty="0"/>
          </a:p>
          <a:p>
            <a:pPr>
              <a:spcAft>
                <a:spcPts val="400"/>
              </a:spcAft>
              <a:defRPr sz="1150">
                <a:solidFill>
                  <a:srgbClr val="17263D"/>
                </a:solidFill>
              </a:defRPr>
            </a:pPr>
            <a:r>
              <a:rPr dirty="0"/>
              <a:t>2024 | 75.0% | 30.0%</a:t>
            </a:r>
          </a:p>
          <a:p>
            <a:pPr>
              <a:spcAft>
                <a:spcPts val="400"/>
              </a:spcAft>
              <a:defRPr sz="1150">
                <a:solidFill>
                  <a:srgbClr val="17263D"/>
                </a:solidFill>
              </a:defRPr>
            </a:pPr>
            <a:r>
              <a:rPr dirty="0"/>
              <a:t>2025 | 85.0% | 45.0%</a:t>
            </a:r>
          </a:p>
          <a:p>
            <a:pPr>
              <a:spcAft>
                <a:spcPts val="400"/>
              </a:spcAft>
              <a:defRPr sz="1150">
                <a:solidFill>
                  <a:srgbClr val="17263D"/>
                </a:solidFill>
              </a:defRPr>
            </a:pPr>
            <a:r>
              <a:rPr dirty="0"/>
              <a:t>2026 | 92.0% | 55.0%</a:t>
            </a:r>
          </a:p>
          <a:p>
            <a:pPr>
              <a:spcAft>
                <a:spcPts val="400"/>
              </a:spcAft>
              <a:defRPr sz="1150">
                <a:solidFill>
                  <a:srgbClr val="17263D"/>
                </a:solidFill>
              </a:defRPr>
            </a:pPr>
            <a:r>
              <a:rPr dirty="0"/>
              <a:t>2027 | 95.0% | 68.0%</a:t>
            </a:r>
          </a:p>
          <a:p>
            <a:pPr>
              <a:spcAft>
                <a:spcPts val="400"/>
              </a:spcAft>
              <a:defRPr sz="1150">
                <a:solidFill>
                  <a:srgbClr val="17263D"/>
                </a:solidFill>
              </a:defRPr>
            </a:pPr>
            <a:r>
              <a:rPr dirty="0"/>
              <a:t>2028 | 97.0% | 78.0%</a:t>
            </a:r>
          </a:p>
          <a:p>
            <a:pPr>
              <a:spcAft>
                <a:spcPts val="400"/>
              </a:spcAft>
              <a:defRPr sz="1150">
                <a:solidFill>
                  <a:srgbClr val="17263D"/>
                </a:solidFill>
              </a:defRPr>
            </a:pPr>
            <a:r>
              <a:rPr dirty="0"/>
              <a:t>2029 | 98.0% | 86.0%</a:t>
            </a:r>
          </a:p>
          <a:p>
            <a:pPr>
              <a:spcAft>
                <a:spcPts val="400"/>
              </a:spcAft>
              <a:defRPr sz="1150">
                <a:solidFill>
                  <a:srgbClr val="17263D"/>
                </a:solidFill>
              </a:defRPr>
            </a:pPr>
            <a:r>
              <a:rPr dirty="0"/>
              <a:t>2030 | 99.0% | 92.0%</a:t>
            </a:r>
          </a:p>
        </p:txBody>
      </p:sp>
      <p:sp>
        <p:nvSpPr>
          <p:cNvPr id="12" name="TextBox 11"/>
          <p:cNvSpPr txBox="1"/>
          <p:nvPr/>
        </p:nvSpPr>
        <p:spPr>
          <a:xfrm>
            <a:off x="6382512" y="5230368"/>
            <a:ext cx="1938528" cy="323165"/>
          </a:xfrm>
          <a:prstGeom prst="rect">
            <a:avLst/>
          </a:prstGeom>
          <a:noFill/>
        </p:spPr>
        <p:txBody>
          <a:bodyPr wrap="square" lIns="0" tIns="0" rIns="0" bIns="0" anchor="t">
            <a:spAutoFit/>
          </a:bodyPr>
          <a:lstStyle/>
          <a:p>
            <a:pPr>
              <a:defRPr sz="1050" b="1">
                <a:solidFill>
                  <a:srgbClr val="17263D"/>
                </a:solidFill>
              </a:defRPr>
            </a:pPr>
            <a:r>
              <a:rPr lang="en-US" sz="1050" b="1" dirty="0">
                <a:solidFill>
                  <a:srgbClr val="17263D"/>
                </a:solidFill>
              </a:rPr>
              <a:t> </a:t>
            </a:r>
            <a:r>
              <a:rPr sz="1050" b="1" dirty="0">
                <a:solidFill>
                  <a:srgbClr val="17263D"/>
                </a:solidFill>
              </a:rPr>
              <a:t>Frontier Models = Bar
 </a:t>
            </a:r>
            <a:r>
              <a:rPr lang="en-IN" sz="1050" dirty="0"/>
              <a:t>Small Language Models</a:t>
            </a:r>
            <a:r>
              <a:rPr lang="en-US" sz="1050" b="1" dirty="0">
                <a:solidFill>
                  <a:srgbClr val="17263D"/>
                </a:solidFill>
              </a:rPr>
              <a:t> </a:t>
            </a:r>
            <a:r>
              <a:rPr sz="1050" b="1" dirty="0">
                <a:solidFill>
                  <a:srgbClr val="17263D"/>
                </a:solidFill>
              </a:rPr>
              <a:t> = Line</a:t>
            </a:r>
          </a:p>
        </p:txBody>
      </p:sp>
      <p:sp>
        <p:nvSpPr>
          <p:cNvPr id="13" name="Rounded Rectangle 12"/>
          <p:cNvSpPr/>
          <p:nvPr/>
        </p:nvSpPr>
        <p:spPr>
          <a:xfrm>
            <a:off x="685800" y="6144768"/>
            <a:ext cx="7772400" cy="329184"/>
          </a:xfrm>
          <a:prstGeom prst="roundRect">
            <a:avLst/>
          </a:prstGeom>
          <a:solidFill>
            <a:srgbClr val="DDE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6199632"/>
            <a:ext cx="7461504" cy="161583"/>
          </a:xfrm>
          <a:prstGeom prst="rect">
            <a:avLst/>
          </a:prstGeom>
          <a:noFill/>
        </p:spPr>
        <p:txBody>
          <a:bodyPr wrap="square" lIns="0" tIns="0" rIns="0" bIns="0" anchor="t">
            <a:spAutoFit/>
          </a:bodyPr>
          <a:lstStyle/>
          <a:p>
            <a:pPr algn="l">
              <a:spcAft>
                <a:spcPts val="0"/>
              </a:spcAft>
              <a:defRPr sz="1050" b="1">
                <a:solidFill>
                  <a:srgbClr val="17263D"/>
                </a:solidFill>
              </a:defRPr>
            </a:pPr>
            <a:r>
              <a:rPr sz="1050" b="1" dirty="0">
                <a:solidFill>
                  <a:srgbClr val="17263D"/>
                </a:solidFill>
              </a:rPr>
              <a:t>2030 outlook: SLMs may approach frontier-level usefulness for a broad share of real-world tasks, especially in edge-first deployments.</a:t>
            </a:r>
          </a:p>
        </p:txBody>
      </p:sp>
      <p:sp>
        <p:nvSpPr>
          <p:cNvPr id="15" name="TextBox 14"/>
          <p:cNvSpPr txBox="1"/>
          <p:nvPr/>
        </p:nvSpPr>
        <p:spPr>
          <a:xfrm>
            <a:off x="6973568" y="6446520"/>
            <a:ext cx="1576073" cy="230832"/>
          </a:xfrm>
          <a:prstGeom prst="rect">
            <a:avLst/>
          </a:prstGeom>
          <a:noFill/>
        </p:spPr>
        <p:txBody>
          <a:bodyPr wrap="none">
            <a:spAutoFit/>
          </a:bodyPr>
          <a:lstStyle/>
          <a:p>
            <a:pPr algn="r">
              <a:defRPr sz="900">
                <a:solidFill>
                  <a:srgbClr val="728192"/>
                </a:solidFill>
              </a:defRPr>
            </a:pPr>
            <a:r>
              <a:rPr dirty="0"/>
              <a:t>AI FOR ALL | Research Desk</a:t>
            </a:r>
            <a:r>
              <a:rPr lang="en-US" dirty="0"/>
              <a:t> </a:t>
            </a:r>
            <a:r>
              <a:rPr dirty="0"/>
              <a:t> </a:t>
            </a:r>
          </a:p>
        </p:txBody>
      </p:sp>
      <p:sp>
        <p:nvSpPr>
          <p:cNvPr id="17" name="TextBox 16">
            <a:extLst>
              <a:ext uri="{FF2B5EF4-FFF2-40B4-BE49-F238E27FC236}">
                <a16:creationId xmlns:a16="http://schemas.microsoft.com/office/drawing/2014/main" id="{C5730CE2-23A4-447B-9474-2AABAF9D6D68}"/>
              </a:ext>
            </a:extLst>
          </p:cNvPr>
          <p:cNvSpPr txBox="1"/>
          <p:nvPr/>
        </p:nvSpPr>
        <p:spPr>
          <a:xfrm>
            <a:off x="320040" y="5369087"/>
            <a:ext cx="5896544" cy="146194"/>
          </a:xfrm>
          <a:prstGeom prst="rect">
            <a:avLst/>
          </a:prstGeom>
          <a:noFill/>
        </p:spPr>
        <p:txBody>
          <a:bodyPr wrap="square" lIns="0" tIns="0" rIns="0" bIns="0" rtlCol="0" anchor="t">
            <a:spAutoFit/>
          </a:bodyPr>
          <a:lstStyle/>
          <a:p>
            <a:pPr algn="l">
              <a:spcAft>
                <a:spcPts val="0"/>
              </a:spcAft>
            </a:pPr>
            <a:r>
              <a:rPr lang="en-US" sz="950" b="0" dirty="0">
                <a:solidFill>
                  <a:srgbClr val="728192"/>
                </a:solidFill>
              </a:rPr>
              <a:t>	</a:t>
            </a:r>
            <a:r>
              <a:rPr sz="950" b="0" dirty="0">
                <a:solidFill>
                  <a:srgbClr val="728192"/>
                </a:solidFill>
              </a:rPr>
              <a:t>Estimates based on current benchmark trends, deployment economics, and internal scenario modeling.</a:t>
            </a:r>
            <a:endParaRPr lang="en-IN"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0"/>
            <a:ext cx="8942832" cy="274320"/>
          </a:xfrm>
          <a:prstGeom prst="rect">
            <a:avLst/>
          </a:prstGeom>
          <a:solidFill>
            <a:srgbClr val="1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0" y="384048"/>
            <a:ext cx="1554480" cy="274320"/>
          </a:xfrm>
          <a:prstGeom prst="rect">
            <a:avLst/>
          </a:prstGeom>
          <a:noFill/>
        </p:spPr>
        <p:txBody>
          <a:bodyPr wrap="none">
            <a:spAutoFit/>
          </a:bodyPr>
          <a:lstStyle/>
          <a:p>
            <a:pPr algn="r">
              <a:defRPr sz="1100" b="1">
                <a:solidFill>
                  <a:srgbClr val="17263D"/>
                </a:solidFill>
              </a:defRPr>
            </a:pPr>
            <a:r>
              <a:t>AI FOR ALL</a:t>
            </a:r>
          </a:p>
        </p:txBody>
      </p:sp>
      <p:sp>
        <p:nvSpPr>
          <p:cNvPr id="5" name="TextBox 4"/>
          <p:cNvSpPr txBox="1"/>
          <p:nvPr/>
        </p:nvSpPr>
        <p:spPr>
          <a:xfrm>
            <a:off x="502920" y="457200"/>
            <a:ext cx="5359929" cy="461665"/>
          </a:xfrm>
          <a:prstGeom prst="rect">
            <a:avLst/>
          </a:prstGeom>
          <a:noFill/>
        </p:spPr>
        <p:txBody>
          <a:bodyPr wrap="none">
            <a:spAutoFit/>
          </a:bodyPr>
          <a:lstStyle/>
          <a:p>
            <a:pPr>
              <a:defRPr sz="2400" b="1">
                <a:solidFill>
                  <a:srgbClr val="17263D"/>
                </a:solidFill>
              </a:defRPr>
            </a:pPr>
            <a:r>
              <a:rPr dirty="0"/>
              <a:t>What to Expect by 2030</a:t>
            </a:r>
            <a:r>
              <a:rPr lang="en-US" dirty="0"/>
              <a:t> </a:t>
            </a:r>
            <a:r>
              <a:rPr lang="en-IN" sz="2000" b="1" i="1" dirty="0"/>
              <a:t>(Emerging Outlook)</a:t>
            </a:r>
            <a:endParaRPr sz="2000" i="1" dirty="0"/>
          </a:p>
        </p:txBody>
      </p:sp>
      <p:sp>
        <p:nvSpPr>
          <p:cNvPr id="6" name="TextBox 5"/>
          <p:cNvSpPr txBox="1"/>
          <p:nvPr/>
        </p:nvSpPr>
        <p:spPr>
          <a:xfrm>
            <a:off x="530352" y="1024128"/>
            <a:ext cx="7406640" cy="384048"/>
          </a:xfrm>
          <a:prstGeom prst="rect">
            <a:avLst/>
          </a:prstGeom>
          <a:noFill/>
        </p:spPr>
        <p:txBody>
          <a:bodyPr wrap="none">
            <a:spAutoFit/>
          </a:bodyPr>
          <a:lstStyle/>
          <a:p>
            <a:pPr>
              <a:defRPr sz="1100">
                <a:solidFill>
                  <a:srgbClr val="445162"/>
                </a:solidFill>
              </a:defRPr>
            </a:pPr>
            <a:r>
              <a:rPr dirty="0"/>
              <a:t>The Future of Edge Orchestration and Democratization</a:t>
            </a:r>
          </a:p>
        </p:txBody>
      </p:sp>
      <p:sp>
        <p:nvSpPr>
          <p:cNvPr id="7" name="Rounded Rectangle 6"/>
          <p:cNvSpPr/>
          <p:nvPr/>
        </p:nvSpPr>
        <p:spPr>
          <a:xfrm>
            <a:off x="566928" y="1444752"/>
            <a:ext cx="8065008" cy="621792"/>
          </a:xfrm>
          <a:prstGeom prst="roundRect">
            <a:avLst/>
          </a:prstGeom>
          <a:solidFill>
            <a:srgbClr val="DDE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91056"/>
            <a:ext cx="7885428" cy="461665"/>
          </a:xfrm>
          <a:prstGeom prst="rect">
            <a:avLst/>
          </a:prstGeom>
          <a:noFill/>
        </p:spPr>
        <p:txBody>
          <a:bodyPr wrap="none">
            <a:spAutoFit/>
          </a:bodyPr>
          <a:lstStyle/>
          <a:p>
            <a:pPr>
              <a:defRPr sz="1200">
                <a:solidFill>
                  <a:srgbClr val="17263D"/>
                </a:solidFill>
              </a:defRPr>
            </a:pPr>
            <a:r>
              <a:rPr lang="en-US" sz="1200" dirty="0"/>
              <a:t>By 2030, the artificial intelligence landscape is likely to be shaped by Small Language Models operating primarily on-device, </a:t>
            </a:r>
          </a:p>
          <a:p>
            <a:pPr>
              <a:defRPr sz="1200">
                <a:solidFill>
                  <a:srgbClr val="17263D"/>
                </a:solidFill>
              </a:defRPr>
            </a:pPr>
            <a:r>
              <a:rPr lang="en-US" sz="1200" dirty="0"/>
              <a:t>with lightweight coordination across specialized capabilities.</a:t>
            </a:r>
            <a:endParaRPr dirty="0"/>
          </a:p>
        </p:txBody>
      </p:sp>
      <p:sp>
        <p:nvSpPr>
          <p:cNvPr id="9" name="TextBox 8"/>
          <p:cNvSpPr txBox="1"/>
          <p:nvPr/>
        </p:nvSpPr>
        <p:spPr>
          <a:xfrm>
            <a:off x="713232" y="2331720"/>
            <a:ext cx="7498079" cy="1656864"/>
          </a:xfrm>
          <a:prstGeom prst="rect">
            <a:avLst/>
          </a:prstGeom>
          <a:noFill/>
        </p:spPr>
        <p:txBody>
          <a:bodyPr wrap="square" lIns="0" tIns="0" rIns="0" bIns="0" anchor="t">
            <a:spAutoFit/>
          </a:bodyPr>
          <a:lstStyle/>
          <a:p>
            <a:pPr>
              <a:spcAft>
                <a:spcPts val="700"/>
              </a:spcAft>
            </a:pPr>
            <a:r>
              <a:rPr sz="1150" b="1" i="0" dirty="0">
                <a:solidFill>
                  <a:srgbClr val="17263D"/>
                </a:solidFill>
              </a:rPr>
              <a:t>1. Shift away from single-model dependence:</a:t>
            </a:r>
            <a:r>
              <a:rPr sz="1200" b="1" i="0" dirty="0">
                <a:solidFill>
                  <a:srgbClr val="17263D"/>
                </a:solidFill>
              </a:rPr>
              <a:t> </a:t>
            </a:r>
            <a:r>
              <a:rPr lang="en-US" sz="1200" dirty="0"/>
              <a:t>Everyday AI is likely to rely less on a single large cloud model and more on coordinated on-device intelligence, where specialized capabilities work together locally to deliver faster, more private responses.</a:t>
            </a:r>
          </a:p>
          <a:p>
            <a:pPr>
              <a:spcAft>
                <a:spcPts val="700"/>
              </a:spcAft>
            </a:pPr>
            <a:r>
              <a:rPr sz="1150" b="1" i="0" dirty="0">
                <a:solidFill>
                  <a:srgbClr val="17263D"/>
                </a:solidFill>
              </a:rPr>
              <a:t>2. Seamless hardware co-design: </a:t>
            </a:r>
            <a:r>
              <a:rPr lang="en-US" sz="1200" dirty="0"/>
              <a:t>Advances in mobile NPUs and model optimization will make local reasoning more practical, energy-efficient, and widely accessible across everyday devices.</a:t>
            </a:r>
          </a:p>
          <a:p>
            <a:pPr>
              <a:spcAft>
                <a:spcPts val="700"/>
              </a:spcAft>
            </a:pPr>
            <a:r>
              <a:rPr sz="1150" b="1" i="0" dirty="0">
                <a:solidFill>
                  <a:srgbClr val="17263D"/>
                </a:solidFill>
              </a:rPr>
              <a:t>3. Bridging the global digital divide:</a:t>
            </a:r>
            <a:r>
              <a:rPr lang="en-US" sz="1150" b="1" i="0" dirty="0">
                <a:solidFill>
                  <a:srgbClr val="17263D"/>
                </a:solidFill>
              </a:rPr>
              <a:t> </a:t>
            </a:r>
            <a:r>
              <a:rPr lang="en-US" sz="1200" dirty="0"/>
              <a:t>Because these systems can operate with limited connectivity, they can reduce dependence on broadband and subscriptions. By 2030, low-cost smartphones in underserved regions could unlock medical, educational, and agricultural support with far greater local autonomy.</a:t>
            </a:r>
            <a:endParaRPr sz="1200" b="0" i="0" dirty="0">
              <a:solidFill>
                <a:srgbClr val="445162"/>
              </a:solidFill>
            </a:endParaRPr>
          </a:p>
        </p:txBody>
      </p:sp>
      <p:sp>
        <p:nvSpPr>
          <p:cNvPr id="10" name="Rounded Rectangle 9"/>
          <p:cNvSpPr/>
          <p:nvPr/>
        </p:nvSpPr>
        <p:spPr>
          <a:xfrm>
            <a:off x="594360" y="6104619"/>
            <a:ext cx="7772400" cy="369333"/>
          </a:xfrm>
          <a:prstGeom prst="roundRect">
            <a:avLst/>
          </a:prstGeom>
          <a:solidFill>
            <a:srgbClr val="FFFFFF"/>
          </a:solidFill>
          <a:ln w="1270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6160154"/>
            <a:ext cx="6256841" cy="323165"/>
          </a:xfrm>
          <a:prstGeom prst="rect">
            <a:avLst/>
          </a:prstGeom>
          <a:noFill/>
        </p:spPr>
        <p:txBody>
          <a:bodyPr wrap="square" lIns="0" tIns="0" rIns="0" bIns="0" anchor="t">
            <a:spAutoFit/>
          </a:bodyPr>
          <a:lstStyle/>
          <a:p>
            <a:pPr>
              <a:defRPr sz="1050" b="1">
                <a:solidFill>
                  <a:srgbClr val="2A60C6"/>
                </a:solidFill>
              </a:defRPr>
            </a:pPr>
            <a:r>
              <a:rPr lang="en-US" sz="1050" dirty="0"/>
              <a:t>Most everyday intelligence is likely to run locally, with coordination happening at the edge and external support remaining selective.</a:t>
            </a:r>
            <a:endParaRPr sz="1050" b="1" dirty="0">
              <a:solidFill>
                <a:srgbClr val="17263D"/>
              </a:solidFill>
            </a:endParaRPr>
          </a:p>
        </p:txBody>
      </p:sp>
      <p:sp>
        <p:nvSpPr>
          <p:cNvPr id="12" name="TextBox 11"/>
          <p:cNvSpPr txBox="1"/>
          <p:nvPr/>
        </p:nvSpPr>
        <p:spPr>
          <a:xfrm>
            <a:off x="4427999" y="6446520"/>
            <a:ext cx="4121641" cy="369332"/>
          </a:xfrm>
          <a:prstGeom prst="rect">
            <a:avLst/>
          </a:prstGeom>
          <a:noFill/>
        </p:spPr>
        <p:txBody>
          <a:bodyPr wrap="none">
            <a:spAutoFit/>
          </a:bodyPr>
          <a:lstStyle/>
          <a:p>
            <a:pPr algn="r">
              <a:defRPr sz="900">
                <a:solidFill>
                  <a:srgbClr val="728192"/>
                </a:solidFill>
              </a:defRPr>
            </a:pPr>
            <a:r>
              <a:rPr dirty="0"/>
              <a:t>AI FOR ALL | Research Desk | 2030 </a:t>
            </a:r>
            <a:r>
              <a:rPr lang="en-US" dirty="0"/>
              <a:t> </a:t>
            </a:r>
          </a:p>
          <a:p>
            <a:pPr algn="r">
              <a:defRPr sz="900">
                <a:solidFill>
                  <a:srgbClr val="728192"/>
                </a:solidFill>
              </a:defRPr>
            </a:pPr>
            <a:r>
              <a:rPr lang="en-US" sz="900" dirty="0"/>
              <a:t>Scenario-based projections derived from current architectural and hardware trends.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2A60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01168" y="0"/>
            <a:ext cx="8942832" cy="274320"/>
          </a:xfrm>
          <a:prstGeom prst="rect">
            <a:avLst/>
          </a:prstGeom>
          <a:solidFill>
            <a:srgbClr val="1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040880" y="384048"/>
            <a:ext cx="1554480" cy="274320"/>
          </a:xfrm>
          <a:prstGeom prst="rect">
            <a:avLst/>
          </a:prstGeom>
          <a:noFill/>
        </p:spPr>
        <p:txBody>
          <a:bodyPr wrap="none">
            <a:spAutoFit/>
          </a:bodyPr>
          <a:lstStyle/>
          <a:p>
            <a:pPr algn="r">
              <a:defRPr sz="1100" b="1">
                <a:solidFill>
                  <a:srgbClr val="17263D"/>
                </a:solidFill>
              </a:defRPr>
            </a:pPr>
            <a:r>
              <a:t>AI FOR ALL</a:t>
            </a:r>
          </a:p>
        </p:txBody>
      </p:sp>
      <p:sp>
        <p:nvSpPr>
          <p:cNvPr id="5" name="TextBox 4"/>
          <p:cNvSpPr txBox="1"/>
          <p:nvPr/>
        </p:nvSpPr>
        <p:spPr>
          <a:xfrm>
            <a:off x="502920" y="457200"/>
            <a:ext cx="3515642" cy="461665"/>
          </a:xfrm>
          <a:prstGeom prst="rect">
            <a:avLst/>
          </a:prstGeom>
          <a:noFill/>
        </p:spPr>
        <p:txBody>
          <a:bodyPr wrap="none">
            <a:spAutoFit/>
          </a:bodyPr>
          <a:lstStyle/>
          <a:p>
            <a:pPr>
              <a:defRPr sz="2400" b="1">
                <a:solidFill>
                  <a:srgbClr val="17263D"/>
                </a:solidFill>
              </a:defRPr>
            </a:pPr>
            <a:r>
              <a:rPr dirty="0"/>
              <a:t>Sources and Method</a:t>
            </a:r>
            <a:r>
              <a:rPr lang="en-US" dirty="0"/>
              <a:t>ology</a:t>
            </a:r>
            <a:endParaRPr dirty="0"/>
          </a:p>
        </p:txBody>
      </p:sp>
      <p:sp>
        <p:nvSpPr>
          <p:cNvPr id="6" name="TextBox 5"/>
          <p:cNvSpPr txBox="1"/>
          <p:nvPr/>
        </p:nvSpPr>
        <p:spPr>
          <a:xfrm>
            <a:off x="530352" y="1024128"/>
            <a:ext cx="3498073" cy="261610"/>
          </a:xfrm>
          <a:prstGeom prst="rect">
            <a:avLst/>
          </a:prstGeom>
          <a:noFill/>
        </p:spPr>
        <p:txBody>
          <a:bodyPr wrap="square" lIns="0" tIns="0" rIns="0" bIns="0" anchor="t">
            <a:spAutoFit/>
          </a:bodyPr>
          <a:lstStyle/>
          <a:p>
            <a:pPr algn="l">
              <a:spcAft>
                <a:spcPts val="0"/>
              </a:spcAft>
              <a:defRPr sz="1100">
                <a:solidFill>
                  <a:srgbClr val="445162"/>
                </a:solidFill>
              </a:defRPr>
            </a:pPr>
            <a:r>
              <a:rPr sz="1100" b="0">
                <a:solidFill>
                  <a:srgbClr val="445162"/>
                </a:solidFill>
              </a:rPr>
              <a:t>Public benchmark references + scenario-based deployment synthesis</a:t>
            </a:r>
          </a:p>
        </p:txBody>
      </p:sp>
      <p:sp>
        <p:nvSpPr>
          <p:cNvPr id="7" name="Rounded Rectangle 6"/>
          <p:cNvSpPr/>
          <p:nvPr/>
        </p:nvSpPr>
        <p:spPr>
          <a:xfrm>
            <a:off x="729208" y="1475574"/>
            <a:ext cx="7726679" cy="4480560"/>
          </a:xfrm>
          <a:prstGeom prst="roundRect">
            <a:avLst/>
          </a:prstGeom>
          <a:solidFill>
            <a:srgbClr val="FFFFFF"/>
          </a:solidFill>
          <a:ln w="13970">
            <a:solidFill>
              <a:srgbClr val="DDE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68679" y="1737360"/>
            <a:ext cx="7587207" cy="2462213"/>
          </a:xfrm>
          <a:prstGeom prst="rect">
            <a:avLst/>
          </a:prstGeom>
          <a:noFill/>
        </p:spPr>
        <p:txBody>
          <a:bodyPr wrap="square" lIns="0" tIns="0" rIns="0" bIns="0" anchor="t">
            <a:spAutoFit/>
          </a:bodyPr>
          <a:lstStyle/>
          <a:p>
            <a:pPr algn="l">
              <a:spcAft>
                <a:spcPts val="600"/>
              </a:spcAft>
            </a:pPr>
            <a:endParaRPr lang="en-US" sz="1200" b="1" i="0" dirty="0">
              <a:solidFill>
                <a:srgbClr val="17263D"/>
              </a:solidFill>
            </a:endParaRPr>
          </a:p>
          <a:p>
            <a:pPr algn="l">
              <a:spcAft>
                <a:spcPts val="600"/>
              </a:spcAft>
            </a:pPr>
            <a:endParaRPr lang="en-IN" sz="1200" b="1" dirty="0">
              <a:solidFill>
                <a:srgbClr val="17263D"/>
              </a:solidFill>
            </a:endParaRPr>
          </a:p>
          <a:p>
            <a:pPr algn="l">
              <a:spcAft>
                <a:spcPts val="600"/>
              </a:spcAft>
            </a:pPr>
            <a:r>
              <a:rPr sz="1200" b="1" i="0" dirty="0" err="1">
                <a:solidFill>
                  <a:srgbClr val="17263D"/>
                </a:solidFill>
              </a:rPr>
              <a:t>OpenAI</a:t>
            </a:r>
            <a:r>
              <a:rPr sz="1200" b="1" i="0" dirty="0">
                <a:solidFill>
                  <a:srgbClr val="17263D"/>
                </a:solidFill>
              </a:rPr>
              <a:t>: </a:t>
            </a:r>
            <a:r>
              <a:rPr sz="1200" b="0" i="0" dirty="0">
                <a:solidFill>
                  <a:srgbClr val="445162"/>
                </a:solidFill>
              </a:rPr>
              <a:t>GPT-series developer documentation and benchmark disclosures relevant to AIME 2025 and GPQA Diamond.</a:t>
            </a:r>
            <a:endParaRPr lang="en-US" sz="1200" b="0" i="0" dirty="0">
              <a:solidFill>
                <a:srgbClr val="445162"/>
              </a:solidFill>
            </a:endParaRPr>
          </a:p>
          <a:p>
            <a:pPr algn="l">
              <a:spcAft>
                <a:spcPts val="600"/>
              </a:spcAft>
            </a:pPr>
            <a:endParaRPr sz="1200" b="0" i="0" dirty="0">
              <a:solidFill>
                <a:srgbClr val="445162"/>
              </a:solidFill>
            </a:endParaRPr>
          </a:p>
          <a:p>
            <a:pPr algn="l">
              <a:spcAft>
                <a:spcPts val="600"/>
              </a:spcAft>
            </a:pPr>
            <a:r>
              <a:rPr sz="1200" b="1" i="0" dirty="0">
                <a:solidFill>
                  <a:srgbClr val="17263D"/>
                </a:solidFill>
              </a:rPr>
              <a:t>Google DeepMind: </a:t>
            </a:r>
            <a:r>
              <a:rPr sz="1200" b="0" i="0" dirty="0">
                <a:solidFill>
                  <a:srgbClr val="445162"/>
                </a:solidFill>
              </a:rPr>
              <a:t>Gemini benchmark references for AIME 2025, GPQA Diamond, and ARC-AGI-2 related reporting.</a:t>
            </a:r>
            <a:endParaRPr lang="en-US" sz="1200" b="0" i="0" dirty="0">
              <a:solidFill>
                <a:srgbClr val="445162"/>
              </a:solidFill>
            </a:endParaRPr>
          </a:p>
          <a:p>
            <a:pPr algn="l">
              <a:spcAft>
                <a:spcPts val="600"/>
              </a:spcAft>
            </a:pPr>
            <a:endParaRPr sz="1200" b="0" i="0" dirty="0">
              <a:solidFill>
                <a:srgbClr val="445162"/>
              </a:solidFill>
            </a:endParaRPr>
          </a:p>
          <a:p>
            <a:pPr algn="l">
              <a:spcAft>
                <a:spcPts val="600"/>
              </a:spcAft>
            </a:pPr>
            <a:r>
              <a:rPr sz="1200" b="1" i="0" dirty="0">
                <a:solidFill>
                  <a:srgbClr val="17263D"/>
                </a:solidFill>
              </a:rPr>
              <a:t>Anthropic and ARC references: </a:t>
            </a:r>
            <a:r>
              <a:rPr sz="1200" b="0" i="0" dirty="0">
                <a:solidFill>
                  <a:srgbClr val="445162"/>
                </a:solidFill>
              </a:rPr>
              <a:t>Claude benchmark documentation and ARC Prize benchmark context.</a:t>
            </a:r>
            <a:endParaRPr lang="en-US" sz="1200" b="0" i="0" dirty="0">
              <a:solidFill>
                <a:srgbClr val="445162"/>
              </a:solidFill>
            </a:endParaRPr>
          </a:p>
          <a:p>
            <a:pPr algn="l">
              <a:spcAft>
                <a:spcPts val="600"/>
              </a:spcAft>
            </a:pPr>
            <a:endParaRPr sz="1200" b="0" i="0" dirty="0">
              <a:solidFill>
                <a:srgbClr val="445162"/>
              </a:solidFill>
            </a:endParaRPr>
          </a:p>
          <a:p>
            <a:pPr algn="l">
              <a:spcAft>
                <a:spcPts val="0"/>
              </a:spcAft>
            </a:pPr>
            <a:r>
              <a:rPr sz="1200" b="1" i="0" dirty="0">
                <a:solidFill>
                  <a:srgbClr val="17263D"/>
                </a:solidFill>
              </a:rPr>
              <a:t>Methodology note: </a:t>
            </a:r>
            <a:r>
              <a:rPr sz="1200" b="0" i="0" dirty="0">
                <a:solidFill>
                  <a:srgbClr val="445162"/>
                </a:solidFill>
              </a:rPr>
              <a:t>Forecast sections reflect scenario-based synthesis grounded in benchmark trends, deployment economics, and edge hardware progress.</a:t>
            </a:r>
          </a:p>
        </p:txBody>
      </p:sp>
      <p:sp>
        <p:nvSpPr>
          <p:cNvPr id="10" name="TextBox 9"/>
          <p:cNvSpPr txBox="1"/>
          <p:nvPr/>
        </p:nvSpPr>
        <p:spPr>
          <a:xfrm>
            <a:off x="822960" y="6163056"/>
            <a:ext cx="218330" cy="246221"/>
          </a:xfrm>
          <a:prstGeom prst="rect">
            <a:avLst/>
          </a:prstGeom>
          <a:noFill/>
        </p:spPr>
        <p:txBody>
          <a:bodyPr wrap="square" lIns="0" tIns="0" rIns="0" bIns="0" anchor="t">
            <a:spAutoFit/>
          </a:bodyPr>
          <a:lstStyle/>
          <a:p>
            <a:pPr algn="l">
              <a:spcAft>
                <a:spcPts val="0"/>
              </a:spcAft>
              <a:defRPr sz="1000" b="1">
                <a:solidFill>
                  <a:srgbClr val="17263D"/>
                </a:solidFill>
              </a:defRPr>
            </a:pPr>
            <a:endParaRPr/>
          </a:p>
        </p:txBody>
      </p:sp>
      <p:sp>
        <p:nvSpPr>
          <p:cNvPr id="11" name="TextBox 10"/>
          <p:cNvSpPr txBox="1"/>
          <p:nvPr/>
        </p:nvSpPr>
        <p:spPr>
          <a:xfrm>
            <a:off x="6975171" y="6446520"/>
            <a:ext cx="1574469" cy="230832"/>
          </a:xfrm>
          <a:prstGeom prst="rect">
            <a:avLst/>
          </a:prstGeom>
          <a:noFill/>
        </p:spPr>
        <p:txBody>
          <a:bodyPr wrap="none">
            <a:spAutoFit/>
          </a:bodyPr>
          <a:lstStyle/>
          <a:p>
            <a:pPr algn="r">
              <a:defRPr sz="900">
                <a:solidFill>
                  <a:srgbClr val="728192"/>
                </a:solidFill>
              </a:defRPr>
            </a:pPr>
            <a:r>
              <a:rPr dirty="0"/>
              <a:t>AI FOR ALL | Research Desk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1090</Words>
  <Application>Microsoft Office PowerPoint</Application>
  <PresentationFormat>On-screen Show (4:3)</PresentationFormat>
  <Paragraphs>95</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lenovo</cp:lastModifiedBy>
  <cp:revision>40</cp:revision>
  <dcterms:created xsi:type="dcterms:W3CDTF">2013-01-27T09:14:16Z</dcterms:created>
  <dcterms:modified xsi:type="dcterms:W3CDTF">2026-03-27T21:43:24Z</dcterms:modified>
  <cp:category/>
</cp:coreProperties>
</file>