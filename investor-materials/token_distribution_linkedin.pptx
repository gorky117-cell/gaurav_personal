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115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1F3B"/>
                </a:solidFill>
                <a:latin typeface="Segoe UI"/>
              </a:defRPr>
            </a:pPr>
            <a:r>
              <a:t>AI for All - Token Size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C5560"/>
                </a:solidFill>
                <a:latin typeface="Segoe UI"/>
              </a:defRPr>
            </a:pPr>
            <a:r>
              <a:t>Input vs Output, query mix, and routing efficiency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115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1F3B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4189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  <a:defRPr sz="1800">
                <a:solidFill>
                  <a:srgbClr val="0B1F3B"/>
                </a:solidFill>
                <a:latin typeface="Segoe UI"/>
              </a:defRPr>
            </a:pPr>
            <a:r>
              <a:rPr lang="en-IN" sz="2000" dirty="0"/>
              <a:t>On-Device Tier: Handles common queries locally for instant, low-cost responses.</a:t>
            </a:r>
            <a:r>
              <a:rPr sz="2000" dirty="0"/>
              <a:t/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  <a:defRPr sz="1800">
                <a:solidFill>
                  <a:srgbClr val="0B1F3B"/>
                </a:solidFill>
                <a:latin typeface="Segoe UI"/>
              </a:defRPr>
            </a:pPr>
            <a:r>
              <a:rPr lang="en-IN" sz="2000" dirty="0"/>
              <a:t>Regional Optimized Tier: Provides efficient, low-latency processing for mid-range workloads.</a:t>
            </a:r>
            <a:r>
              <a:rPr sz="2000" dirty="0"/>
              <a:t/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q"/>
              <a:defRPr sz="1800">
                <a:solidFill>
                  <a:srgbClr val="0B1F3B"/>
                </a:solidFill>
                <a:latin typeface="Segoe UI"/>
              </a:defRPr>
            </a:pPr>
            <a:r>
              <a:rPr sz="2000" dirty="0"/>
              <a:t>LLM Fallback Tier: Used only for complex tasks requiring advanced reasoning.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  <a:defRPr sz="1800">
                <a:solidFill>
                  <a:srgbClr val="0B1F3B"/>
                </a:solidFill>
                <a:latin typeface="Segoe UI"/>
              </a:defRPr>
            </a:pPr>
            <a:r>
              <a:rPr sz="2000" dirty="0"/>
              <a:t>A majority of queries are handled locally, minimizing cloud dependency.</a:t>
            </a:r>
            <a:r>
              <a:rPr lang="en-IN" sz="2000" dirty="0"/>
              <a:t/>
            </a:r>
            <a:r>
              <a:rPr sz="2000" dirty="0"/>
              <a:t/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  <a:defRPr sz="1800">
                <a:solidFill>
                  <a:srgbClr val="0B1F3B"/>
                </a:solidFill>
                <a:latin typeface="Segoe UI"/>
              </a:defRPr>
            </a:pPr>
            <a:r>
              <a:rPr sz="2000" dirty="0"/>
              <a:t>Mid-range workloads are processed through optimized infrastructure for efficiency.</a:t>
            </a:r>
            <a:r>
              <a:rPr lang="en-IN" sz="2000" dirty="0"/>
              <a:t/>
            </a:r>
            <a:r>
              <a:rPr sz="2000" dirty="0"/>
              <a:t/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q"/>
              <a:defRPr sz="1800">
                <a:solidFill>
                  <a:srgbClr val="0B1F3B"/>
                </a:solidFill>
                <a:latin typeface="Segoe UI"/>
              </a:defRPr>
            </a:pPr>
            <a:r>
              <a:rPr sz="2000" dirty="0"/>
              <a:t>Only a small portion of complex tasks require full-scale AI models. 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q"/>
              <a:defRPr sz="1800">
                <a:solidFill>
                  <a:srgbClr val="0B1F3B"/>
                </a:solidFill>
                <a:latin typeface="Segoe UI"/>
              </a:defRPr>
            </a:pPr>
            <a:r>
              <a:rPr sz="2000" dirty="0"/>
              <a:t>Differentiator: LLM incumbents pay full GPU tax for every query, while AI for All is designed to keep heavy-model usage minimal.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q"/>
              <a:defRPr sz="1800">
                <a:solidFill>
                  <a:srgbClr val="0B1F3B"/>
                </a:solidFill>
                <a:latin typeface="Segoe UI"/>
              </a:defRPr>
            </a:pPr>
            <a:r>
              <a:rPr sz="2000" dirty="0"/>
              <a:t>Proof: Telemetry receipts (cost/query, fallback %, latency) validate these savings.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115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1F3B"/>
                </a:solidFill>
                <a:latin typeface="Segoe UI"/>
              </a:defRPr>
            </a:pPr>
            <a:r>
              <a:t>Query Mix by Token Band (Approx.)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7424927" cy="1005840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47887" y="2011680"/>
            <a:ext cx="2333548" cy="1005840"/>
          </a:xfrm>
          <a:prstGeom prst="rect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581436" y="2011680"/>
            <a:ext cx="848563" cy="1005840"/>
          </a:xfrm>
          <a:prstGeom prst="rect">
            <a:avLst/>
          </a:prstGeom>
          <a:solidFill>
            <a:srgbClr val="E08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67337" y="2103120"/>
            <a:ext cx="33361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Common queries handled locally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4261" y="2103120"/>
            <a:ext cx="20445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Moderate workloads processed efficiently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3148" y="2103120"/>
            <a:ext cx="848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Complex tasks requiring advanced reasoning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C5560"/>
                </a:solidFill>
                <a:latin typeface="Segoe UI"/>
              </a:defRPr>
            </a:pPr>
            <a:r>
              <a:t>Bar lengths are illustrative; ranges are shown in labels.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C5560"/>
                </a:solidFill>
                <a:latin typeface="Segoe UI"/>
              </a:defRPr>
            </a:pPr>
            <a:r>
              <a:t>Sources: Semrush prompt-length study; arXiv research on LLM overthinking in simple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49321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115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1F3B"/>
                </a:solidFill>
                <a:latin typeface="Segoe UI"/>
              </a:defRPr>
            </a:pPr>
            <a:r>
              <a:t>Tier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934371"/>
              </p:ext>
            </p:extLst>
          </p:nvPr>
        </p:nvGraphicFramePr>
        <p:xfrm>
          <a:off x="640080" y="137160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8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515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Token Range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Query %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Justification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On-Device Execution Tier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≤400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~70%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Based on average use-case lengths and usage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Regional Optimized Tier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400–1000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~20–25%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Matches longer summaries, analytics, structured tasks.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LLM fallback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≥1000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~5–10%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Captures long-form, complex reasoning or creative tasks.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1005840"/>
            <a:ext cx="7680959" cy="365760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21039" y="1005840"/>
            <a:ext cx="2414016" cy="365760"/>
          </a:xfrm>
          <a:prstGeom prst="rect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735056" y="1005840"/>
            <a:ext cx="877824" cy="365760"/>
          </a:xfrm>
          <a:prstGeom prst="rect">
            <a:avLst/>
          </a:prstGeom>
          <a:solidFill>
            <a:srgbClr val="E08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024128"/>
            <a:ext cx="758951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sz="1000" dirty="0"/>
              <a:t>Edge &lt;=400</a:t>
            </a:r>
            <a:br>
              <a:rPr sz="1000" dirty="0"/>
            </a:br>
            <a:r>
              <a:rPr sz="1000" dirty="0"/>
              <a:t>~70%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9327" y="102412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Cloud 400-1000</a:t>
            </a:r>
            <a:br/>
            <a:r>
              <a:t>~20-25%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1024128"/>
            <a:ext cx="859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LLM</a:t>
            </a:r>
            <a:br/>
            <a:r>
              <a:t>5-10%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115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1F3B"/>
                </a:solidFill>
                <a:latin typeface="Segoe UI"/>
              </a:defRPr>
            </a:pPr>
            <a:r>
              <a:t>Use-Case Profiles (1-8)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379842"/>
              </p:ext>
            </p:extLst>
          </p:nvPr>
        </p:nvGraphicFramePr>
        <p:xfrm>
          <a:off x="365760" y="1188720"/>
          <a:ext cx="10972800" cy="5254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 / Task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Input Tokens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Output Tokens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Primary Users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% Queries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Execution Tier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Summarization (short docs, notes)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100–200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50–100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Students, SMB, NGOs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dirty="0"/>
                        <a:t>On-Device Execution 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Q&amp;A factual (knowledge lookups)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50–150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50–100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Students, SMB, 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dirty="0"/>
                        <a:t>On-Device Execution 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Email drafting / reply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100–200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50–120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SMB, Students, Underserved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dirty="0"/>
                        <a:t>On-Device Execution 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Translation (short text)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50–150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50–150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Students, NGOs, Underserved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dirty="0"/>
                        <a:t>On-Device Execution 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286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Social media captions / posts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30–80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30–120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SMB (marketing), Students, 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dirty="0"/>
                        <a:t>On-Device Execution 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Basic analytics (tables, CSV summaries)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150–300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50–120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SMB,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dirty="0"/>
                        <a:t>On-Device Execution 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To-do / task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30–80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30–80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Students, SMB, 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dirty="0"/>
                        <a:t>On-Device Execution 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Knowledge recap / study guides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150–250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100–150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Students, NGOs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dirty="0"/>
                        <a:t>On-Device Execution 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115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1F3B"/>
                </a:solidFill>
                <a:latin typeface="Segoe UI"/>
              </a:defRPr>
            </a:pPr>
            <a:r>
              <a:t>Use-Case Profiles (9-16)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234721"/>
              </p:ext>
            </p:extLst>
          </p:nvPr>
        </p:nvGraphicFramePr>
        <p:xfrm>
          <a:off x="365760" y="1188720"/>
          <a:ext cx="10972800" cy="5157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 / Task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Input Tokens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Output Tokens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Primary Users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% Queries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Execution Tier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37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Whisper STT (short audio)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50–100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50–100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Students, SMB, Underserved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dirty="0"/>
                        <a:t>On-Device Execution 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TTS response (short speech)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50–150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50–150 (equiv audio)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Underserved,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dirty="0"/>
                        <a:t>On-Device Execution 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Form-filling assist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50–120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30–100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Underserved, 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dirty="0"/>
                        <a:t>On-Device Execution 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Translation (edu content, longer)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150–250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150–250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Students, NGOs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dirty="0"/>
                        <a:t>On-Device Execution 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Light reasoning (math, logic Qs)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100–200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100–150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Students, 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dirty="0"/>
                        <a:t>On-Device Execution /</a:t>
                      </a:r>
                      <a:r>
                        <a:rPr lang="en-IN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Regional Optimized Tier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FAQ/helpdesk auto-response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50–120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50–120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SMB, Global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Regional Optimized Tier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Micro-reports (1–2 pages)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200–400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200–400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SMB,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Regional Optimized Tier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Data queries (SQL-like / BI-lite)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200–400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150–300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SMB,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Regional Optimized Tier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115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1F3B"/>
                </a:solidFill>
                <a:latin typeface="Segoe UI"/>
              </a:defRPr>
            </a:pPr>
            <a:r>
              <a:t>Use-Case Profiles (17-24)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801081"/>
              </p:ext>
            </p:extLst>
          </p:nvPr>
        </p:nvGraphicFramePr>
        <p:xfrm>
          <a:off x="365760" y="118872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 / Task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Input Tokens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Output Tokens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Primary Users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% Queries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Execution Tier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Charts &amp; graphs (data viz)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300–600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150–300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SMB, Schools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Regional Optimized Tier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Web scraping (short extract)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200–500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100–200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SMB, NGOs,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Regional Optimized Tier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Structured report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400–700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300–500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SMB ops,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Regional Optimized Tier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Translation (long docs)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500–1000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500–1000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dirty="0"/>
                        <a:t>NGOs, 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Regional Optimized Tier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Light VLM tasks (image captioning, OCR)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200–400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100–200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SMB,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Regional Optimized Tier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Web scraping + enrichment (multi-source)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400–800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200–400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SMB, NGOs,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Regional Optimized Tier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Advanced analytics (trend detection)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500–1000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300–600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SMB finance, 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Regional Optimized Tier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Cross-lingual knowledge lookup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300–600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200–400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NGOs, 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rPr lang="en-IN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Regional Optimized Tier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115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1F3B"/>
                </a:solidFill>
                <a:latin typeface="Segoe UI"/>
              </a:defRPr>
            </a:pPr>
            <a:r>
              <a:t>Use-Case Profiles (25-30)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 / Task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Input Tokens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Output Tokens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Primary Users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% Queries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Execution Tier</a:t>
                      </a:r>
                    </a:p>
                  </a:txBody>
                  <a:tcPr>
                    <a:solidFill>
                      <a:srgbClr val="0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Research queries (multi-doc summaries)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1000–2000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500–1000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SMB, Students, NGOs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Cloud fallback LLM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Creative generation (essays, blogs)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800–1500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600–1000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Students, 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Cloud fallback LLM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Legal/technical drafting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1200–2000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1000–1500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SMB, 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Cloud fallback LLM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Complex reasoning (multi-step)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1500–2500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800–1500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Students, 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Cloud fallback LLM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Long-form reports (5–10 pages)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2000–4000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2000–4000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SMB, NGOs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Cloud fallback LLM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Deep research (web+RAG enriched)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2500–5000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1500–3000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Students, NGOs, 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Cloud fallback LLM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F3B"/>
                </a:solidFill>
                <a:latin typeface="Segoe UI"/>
              </a:defRPr>
            </a:pPr>
            <a:r>
              <a:t>The GPU Tax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A9A1"/>
                </a:solidFill>
                <a:latin typeface="Segoe UI"/>
              </a:defRPr>
            </a:pPr>
            <a:r>
              <a:t>90% cost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5560"/>
                </a:solidFill>
                <a:latin typeface="Segoe UI"/>
              </a:defRPr>
            </a:pPr>
            <a:r>
              <a:t>Majority of queries handled without expensive cloud compute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512064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2194560"/>
            <a:ext cx="512064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2AA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B"/>
                </a:solidFill>
                <a:latin typeface="Segoe UI"/>
              </a:defRPr>
            </a:pPr>
            <a:r>
              <a:t>LLM Incumbents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A9A1"/>
                </a:solidFill>
                <a:latin typeface="Segoe UI"/>
              </a:defRPr>
            </a:pPr>
            <a:r>
              <a:t>AI for 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B1F3B"/>
                </a:solidFill>
                <a:latin typeface="Segoe UI"/>
              </a:defRPr>
            </a:pPr>
            <a:r>
              <a:t>100% of queries pay full GPU tax</a:t>
            </a:r>
          </a:p>
          <a:p>
            <a:pPr>
              <a:defRPr sz="1400">
                <a:solidFill>
                  <a:srgbClr val="0B1F3B"/>
                </a:solidFill>
                <a:latin typeface="Segoe UI"/>
              </a:defRPr>
            </a:pPr>
            <a:r>
              <a:t>High cost per query, even for simple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AA9A1"/>
                </a:solidFill>
                <a:latin typeface="Segoe UI"/>
              </a:defRPr>
            </a:pPr>
            <a:r>
              <a:t>Only a small portion of queries require full GPU compute</a:t>
            </a:r>
          </a:p>
          <a:p>
            <a:pPr>
              <a:defRPr sz="1400">
                <a:solidFill>
                  <a:srgbClr val="2AA9A1"/>
                </a:solidFill>
                <a:latin typeface="Segoe UI"/>
              </a:defRPr>
            </a:pPr>
            <a:r>
              <a:t>Most workloads run on edge or cheap cloud tiers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908</Words>
  <Application>Microsoft Office PowerPoint</Application>
  <PresentationFormat>Widescreen</PresentationFormat>
  <Paragraphs>254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keywords/>
  <dc:description>generated using python-pptx</dc:description>
  <cp:lastModifiedBy>lenovo</cp:lastModifiedBy>
  <cp:revision>11</cp:revision>
  <dcterms:created xsi:type="dcterms:W3CDTF">2013-01-27T09:14:16Z</dcterms:created>
  <dcterms:modified xsi:type="dcterms:W3CDTF">2026-04-11T06:25:10Z</dcterms:modified>
  <cp:category/>
</cp:coreProperties>
</file>